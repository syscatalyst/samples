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2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3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Coût mensuel par To selon la classe de stockage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de stockage ($ / To / mois, AWS S3 us-east)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&quot; $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S3 Standard</c:v>
                  </c:pt>
                  <c:pt idx="1">
                    <c:v>Standard-IA</c:v>
                  </c:pt>
                  <c:pt idx="2">
                    <c:v>Glacier Instant</c:v>
                  </c:pt>
                  <c:pt idx="3">
                    <c:v>Glacier Flexible</c:v>
                  </c:pt>
                  <c:pt idx="4">
                    <c:v>Deep Archive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12.5</c:v>
                </c:pt>
                <c:pt idx="2">
                  <c:v>4</c:v>
                </c:pt>
                <c:pt idx="3">
                  <c:v>3.6</c:v>
                </c:pt>
                <c:pt idx="4">
                  <c:v>0.99</c:v>
                </c:pt>
              </c:numCache>
            </c:numRef>
          </c:val>
        </c:ser>
        <c:dLbls>
          <c:numFmt formatCode="#,##0.0&quot; $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6350" cap="flat">
              <a:solidFill>
                <a:srgbClr val="D4D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1E2761"/>
                </a:solidFill>
                <a:latin typeface="Calibri"/>
              </a:rPr>
              <a:t>Courbe de maturation — % de complétude vs heure de calcul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des transactions du jour J (%)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A97A1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 23:59</c:v>
                  </c:pt>
                  <c:pt idx="1">
                    <c:v>J+1 02h</c:v>
                  </c:pt>
                  <c:pt idx="2">
                    <c:v>J+1 06h</c:v>
                  </c:pt>
                  <c:pt idx="3">
                    <c:v>J+1 12h</c:v>
                  </c:pt>
                  <c:pt idx="4">
                    <c:v>J+2</c:v>
                  </c:pt>
                  <c:pt idx="5">
                    <c:v>J+3</c:v>
                  </c:pt>
                  <c:pt idx="6">
                    <c:v>J+7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</c:v>
                </c:pt>
                <c:pt idx="1">
                  <c:v>91.5</c:v>
                </c:pt>
                <c:pt idx="2">
                  <c:v>96</c:v>
                </c:pt>
                <c:pt idx="3">
                  <c:v>98.2</c:v>
                </c:pt>
                <c:pt idx="4">
                  <c:v>99.5</c:v>
                </c:pt>
                <c:pt idx="5">
                  <c:v>99.8</c:v>
                </c:pt>
                <c:pt idx="6">
                  <c:v>99.97</c:v>
                </c:pt>
              </c:numCache>
            </c:numRef>
          </c:val>
          <c:smooth val="1"/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A97A1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2"/>
          <c:min val="80"/>
        </c:scaling>
        <c:delete val="0"/>
        <c:axPos val="l"/>
        <c:majorGridlines>
          <c:spPr>
            <a:ln w="6350" cap="flat">
              <a:solidFill>
                <a:srgbClr val="D4DC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1E2761"/>
                </a:solidFill>
                <a:latin typeface="Calibri"/>
              </a:rPr>
              <a:t>Taux d’autorisation par canal (repères industrie)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d’autorisation typique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Retrait GAB</c:v>
                  </c:pt>
                  <c:pt idx="1">
                    <c:v>POS domestique</c:v>
                  </c:pt>
                  <c:pt idx="2">
                    <c:v>E-comm. avec 3DS</c:v>
                  </c:pt>
                  <c:pt idx="3">
                    <c:v>E-comm. sans 3DS</c:v>
                  </c:pt>
                  <c:pt idx="4">
                    <c:v>Cross-border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96.5</c:v>
                </c:pt>
                <c:pt idx="1">
                  <c:v>94</c:v>
                </c:pt>
                <c:pt idx="2">
                  <c:v>90</c:v>
                </c:pt>
                <c:pt idx="3">
                  <c:v>86</c:v>
                </c:pt>
                <c:pt idx="4">
                  <c:v>80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4DC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DE RÉFÉRENCE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10789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Big Data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Monétique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85800" y="4343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l’ingestion des transactions à la couche de reporting : gestion de l’incomplétude,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événements tardifs et du tiering pour des rapports périodiques et des KPI fiables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fondée sur les architectures de Visa, Mastercard, Stripe, PayPal, Adyen, Uber, Netflix, Airbnb, LinkedIn, Capital One et JPMorgan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Huit volets, de la source au rapport certifié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1435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benchmarks industriels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monétique, exigences, leçons de Visa, Stripe, PayPal, Uber, Netflix, Airbnb…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660904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2679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300837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vs Kappa vs Lakehouse, vue macro des couches, stack de référence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90448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7160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ingestion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8583, CDC, fichiers de compensation, backbone Kafka, PCI-DSS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514807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7160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&amp; stockage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5495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Médaillon bronze / argent / or, partitionnement, formats de table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86600" y="1435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&amp; cycle de vie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86600" y="176479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/ warm / cold / archive, économie, rétention réglementaire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2660904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86600" y="2679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&amp; modélisation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300837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temps réel, ETL incrémental Spark, modèle dimensionnel Kimball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390448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08660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des données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086600" y="42519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Incomplétude, événements tardifs, exactitude des décomptes, restatement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514807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08660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sémantique &amp; reporting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86600" y="5495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certifiés, génération orchestrée, reporting réglementaire, gouvernance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transaction carte vit trois vies — et change après coup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514600" cy="86868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63040"/>
            <a:ext cx="24597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 • temps réel &lt; 1 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778508"/>
            <a:ext cx="292608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3401568" y="1463040"/>
            <a:ext cx="2514600" cy="868680"/>
          </a:xfrm>
          <a:prstGeom prst="roundRect">
            <a:avLst>
              <a:gd name="adj" fmla="val 4737"/>
            </a:avLst>
          </a:prstGeom>
          <a:solidFill>
            <a:srgbClr val="2B3A7E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63040"/>
            <a:ext cx="24597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batch • J+1 / J+2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61888" y="1778508"/>
            <a:ext cx="292608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0216" y="1463040"/>
            <a:ext cx="2514600" cy="868680"/>
          </a:xfrm>
          <a:prstGeom prst="roundRect">
            <a:avLst>
              <a:gd name="adj" fmla="val 4737"/>
            </a:avLst>
          </a:prstGeom>
          <a:solidFill>
            <a:srgbClr val="25708A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1463040"/>
            <a:ext cx="24597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nettes • T+1 à T+3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0536" y="1778508"/>
            <a:ext cx="292608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5" name="Shape 13"/>
          <p:cNvSpPr/>
          <p:nvPr/>
        </p:nvSpPr>
        <p:spPr>
          <a:xfrm>
            <a:off x="9198864" y="1463040"/>
            <a:ext cx="2514600" cy="868680"/>
          </a:xfrm>
          <a:prstGeom prst="roundRect">
            <a:avLst>
              <a:gd name="adj" fmla="val 4737"/>
            </a:avLst>
          </a:prstGeom>
          <a:solidFill>
            <a:srgbClr val="A97A1F"/>
          </a:solidFill>
          <a:ln/>
        </p:spPr>
      </p:sp>
      <p:sp>
        <p:nvSpPr>
          <p:cNvPr id="16" name="Text 14"/>
          <p:cNvSpPr/>
          <p:nvPr/>
        </p:nvSpPr>
        <p:spPr>
          <a:xfrm>
            <a:off x="9226296" y="1463040"/>
            <a:ext cx="24597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Litiges / Chargebacks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Jusqu’à 18 mois après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69748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systèmes, trois temporalités — </a:t>
            </a:r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switch autorise en ligne (messages 0100/0200, reversals 0400), les réseaux compensent par fichiers (IPM Mastercard, BASE II Visa, fichiers du switch national), le règlement déverse les positions nettes en comptabilité.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mutables par nature — </a:t>
            </a:r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autorisation est complétée, annulée, partiellement capturée, contestée puis représentée ; les montants diffèrent entre étapes (pourboires, DCC, captures partielles).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arrivent en retard par construction — </a:t>
            </a:r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clearing de la journée J arrive à J+1/J+2, les corrections réseau plus tard encore : les « late events » ne sont pas une anomalie, ce sont une propriété structurelle de la monétique.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architecturale — </a:t>
            </a:r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doit unifier temps réel et batch, supporter les mises à jour (upserts), et publier des décomptes dont la maturation est explicitement gérée.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5577840"/>
            <a:ext cx="11183112" cy="713232"/>
          </a:xfrm>
          <a:prstGeom prst="roundRect">
            <a:avLst>
              <a:gd name="adj" fmla="val 6410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57784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d’or : </a:t>
            </a:r>
            <a:pPr indent="0" marL="0">
              <a:buNone/>
            </a:pPr>
            <a:r>
              <a:rPr lang="en-US" sz="12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déclarer un total « final » avant la fin de la fenêtre de compensation — publier des chiffres « autorisés » (provisoires) puis « compensés / réglés » (définitifs).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exigences structurantes pour la plateforme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66160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1450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7864" y="16002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4088" y="2121408"/>
            <a:ext cx="3163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fraude et supervision en &lt; 1 s de latence de décision (P99 &lt; 800 ms), monitoring des taux d’autorisation en continu.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1463040"/>
            <a:ext cx="3566160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171450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0056" y="16002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Décomptes fiables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26280" y="2121408"/>
            <a:ext cx="3163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périodiques avec comptages et KPI statistiques exacts : zéro double comptage, complétude mesurée, écarts réconciliés.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47304" y="1463040"/>
            <a:ext cx="3566160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0184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714500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42248" y="16002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PCI-DSS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48472" y="2121408"/>
            <a:ext cx="3163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jamais stocké en clair (Req. 3.4.1), tokenisation à l’ingestion, masquage par rôle, journaux d’audit 12 mois.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3858768"/>
            <a:ext cx="3566160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5800" y="40142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110228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97864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longue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04088" y="4517136"/>
            <a:ext cx="3163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réglementaire 5 à 10 ans avec purge prouvable — impose un tiering hot / warm / cold / archive.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25112" y="3858768"/>
            <a:ext cx="3566160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07992" y="40142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4110228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20056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Auditabilité totale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26280" y="4517136"/>
            <a:ext cx="3163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Lignage de bout en bout (esprit BCBS 239) : prouver chaque chiffre d’un rapport réglementaire jusqu’aux fichiers sources.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47304" y="3858768"/>
            <a:ext cx="3566160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30184" y="40142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196" y="4110228"/>
            <a:ext cx="210312" cy="2103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42248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uniques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348472" y="4517136"/>
            <a:ext cx="3163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définition certifiée par indicateur (taux d’autorisation, fraude en bps…) partagée entre risque, finance et commercial.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font les grands acteurs des paiements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212080"/>
                <a:gridCol w="4553712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observée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Enseignement pour la monétique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exactly-once comme « source de vérité financière », Trino + Iceberg (catalogue REST), Flink, Pinot pour l’OLAP temps réel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journal Kafka peut porter le grand livre ; format de table ouvert = indépendance des moteurs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PayPal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1 500+ brokers Kafka, 20 000 topics, pics à 21 M msg/s, ~2 000 nœuds MirrorMaker inter-datacenters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backbone unique exige un plan de contrôle industrialisé (ACL, quotas, clients standardisés)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Adyen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100 % on-premise (conformité) : Spark + HDFS/Parquet + Hive, notebooks gouvernés, Looker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on-premise souverain est viable ; ROI majeur : uplift du taux d’autorisation et pilotage des chargebacks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Cloudera Enterprise + Solr (plateforme MATCH anti-fraude), un des plus grands clusters Hadoop du secteur financier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recherche full-text est un composant clé des enquêtes fraude et du matching commerçants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Amex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VisaNet ~65 000 msg/s de capacité ; Amex sur Hadoop depuis 2010, décision fraude en millisecondes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Profils pré-calculés (batch) + scoring en ligne : le couple gagnant depuis 15 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font les grandes plateformes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303520"/>
                <a:gridCol w="455371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de référence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Transposition monétique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Hudi : lakehouse à upserts, ETL incrémental (ne recalculer que les deltas) — SLA –14 h, coûts –78 % sur des pipelines clés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rapprochement autorisation ↔ clearing ↔ règlement est le cas d’école de l’ETL incrémental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Netflix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Iceberg + services d’exploitation automatisés : Janitors (TTL, snapshots), Autotune (compaction), migration outillée de 1,5 M de 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rétention réglementaire doit être appliquée de façon automatique et prouvable, table par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Minerva : ~12 000 métriques déclaratives, définition unique servie partout ; certification Midas (4 revues, SLA, garanties)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« taux d’autorisation » doit avoir UNE définition certifiée — fin des batailles de chiffres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Sentinel (validation déclarative, blocage aval) + Unified Metrics Platform (calcul unique des KPI)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qualité se déclare, se génère et bloque la publication en cas d’échec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 de lac : Raw → Standardized (sécurité appliquée) → Consumption → Exploratory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tokenisation/masquage a une place précise : à l’entrée de la zone standardisée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JPMorgan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mesh : un lac par domaine métier, catalogue fédéré, « partager, pas copier », masquage granulaire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Découper par domaines : émission, acquisition, fraude, litiges, GAB — avec un propriétaire par domaine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leçons convergentes des leaders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904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6152" y="1417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backbone Kafka unique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autorisations, le CDC et les logs — avec exactly-once sur les flux financiers.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904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31152" y="1417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lakehouse à format ouvert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/ Hudi / Delta unifiant streaming et batch : fin de l’architecture Lambda « à deux vérités ».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6152" y="262432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L’ETL incrémental par défaut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sont mutables et tardives : upserts + lecture des deltas, jamais de full-recompute quotidien.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31152" y="262432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couche sémantique certifiée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définition unique par KPI, servie à la BI, au réglementaire et aux analyses.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9044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6152" y="383133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qui bloque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contrôles à chaque frontière et des circuit breakers : ne pas publier plutôt que publier faux.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9044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31152" y="383133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maintenance automatisée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compaction, expiration de snapshots, purge de rétention : des services, pas des tickets.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111496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6152" y="5038344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dès l’ingestion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FPE du PAN avant le lake : la plateforme sort (presque) du périmètre PCI.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17320"/>
            <a:ext cx="2651760" cy="2651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B3A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68580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cible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pattern global, vue macro des couches et stack technique de référence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Lambda, Kappa ou Lakehouse médaillon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063240"/>
                <a:gridCol w="2926080"/>
                <a:gridCol w="350215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Limites pour la monétique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Deux chaînes parallèles : batch (vérité) + speed (temps réel)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Historiquement éprouvée (fraude temps réel + entrepôt batch)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logique à maintenir, « dérive de vérité » entre les deux chemins, décomptes divergents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Tout-streaming, rejeu depuis le log Kafka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seule logique, rejeu naturel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clearing reste intrinsèquement batch (fichiers J+1) : un Kappa pur n’est pas tenable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Lakehouse médaillon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ET batch convergent dans les mêmes tables ACID (Iceberg/Hudi/Delta)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seule vérité, upserts natifs, time travel, moteurs multiples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des services de maintenance (compaction, snapshots) et une discipline de partitionnement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846320"/>
            <a:ext cx="11183112" cy="1463040"/>
          </a:xfrm>
          <a:prstGeom prst="roundRect">
            <a:avLst>
              <a:gd name="adj" fmla="val 3750"/>
            </a:avLst>
          </a:prstGeom>
          <a:solidFill>
            <a:srgbClr val="121A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32180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4919472"/>
            <a:ext cx="9875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— le consensus industriel 2026 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médaillon (bronze / argent / or) sur format de table ouvert, complété par un chemin chaud de type Kappa (Kafka + Flink) pour la fraude et la supervision temps réel. Les deux chemins écrivent dans les mêmes tables : une seule source de vérité pour les décomptes.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macro : sept couches, de la source au rapport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9235440" cy="621792"/>
          </a:xfrm>
          <a:prstGeom prst="roundRect">
            <a:avLst>
              <a:gd name="adj" fmla="val 5882"/>
            </a:avLst>
          </a:prstGeom>
          <a:solidFill>
            <a:srgbClr val="121A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80360" y="132588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ISO 8583 • GAB • TPE • e-commerce/3DS • fichiers clearing • core banking • HSM • litiges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34440" y="1947672"/>
            <a:ext cx="237744" cy="137160"/>
          </a:xfrm>
          <a:prstGeom prst="down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093976"/>
            <a:ext cx="9235440" cy="621792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9397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80360" y="2093976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(backbone, Schema Registry, exactly-once) • CDC Debezium/GoldenGate • MFT batch • tokenisation FPE du PAN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34440" y="2715768"/>
            <a:ext cx="237744" cy="137160"/>
          </a:xfrm>
          <a:prstGeom prst="downArrow">
            <a:avLst/>
          </a:prstGeom>
          <a:solidFill>
            <a:srgbClr val="D9A441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862072"/>
            <a:ext cx="9235440" cy="621792"/>
          </a:xfrm>
          <a:prstGeom prst="roundRect">
            <a:avLst>
              <a:gd name="adj" fmla="val 5882"/>
            </a:avLst>
          </a:prstGeom>
          <a:solidFill>
            <a:srgbClr val="2B3A7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6207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LAKEHOUSE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80360" y="2862072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→ Bronze (brut immuable) → Argent (conformé, dédupliqué) → Or (marts &amp; agrégats certifiés) — Iceberg/Hudi, tiering hot→archive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34440" y="3483864"/>
            <a:ext cx="237744" cy="137160"/>
          </a:xfrm>
          <a:prstGeom prst="downArrow">
            <a:avLst/>
          </a:prstGeom>
          <a:solidFill>
            <a:srgbClr val="D9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630168"/>
            <a:ext cx="9235440" cy="621792"/>
          </a:xfrm>
          <a:prstGeom prst="roundRect">
            <a:avLst>
              <a:gd name="adj" fmla="val 5882"/>
            </a:avLst>
          </a:prstGeom>
          <a:solidFill>
            <a:srgbClr val="25708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30168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80360" y="363016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chaud Flink (fraude &lt; 1 s) • Chemin froid Spark (ETL incrémental, réconciliation, interchange) • Data quality (Deequ/GE)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234440" y="4251960"/>
            <a:ext cx="237744" cy="137160"/>
          </a:xfrm>
          <a:prstGeom prst="downArrow">
            <a:avLst/>
          </a:prstGeom>
          <a:solidFill>
            <a:srgbClr val="D9A441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398264"/>
            <a:ext cx="9235440" cy="621792"/>
          </a:xfrm>
          <a:prstGeom prst="roundRect">
            <a:avLst>
              <a:gd name="adj" fmla="val 5882"/>
            </a:avLst>
          </a:prstGeom>
          <a:solidFill>
            <a:srgbClr val="25708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9826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SEMANTIQUE &amp; SERVING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880360" y="4398264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métrique (définitions KPI uniques) • Trino SQL • OLAP temps réel (ClickHouse/Druid/Pinot) • recherche (Elastic) • APIs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34440" y="5020056"/>
            <a:ext cx="237744" cy="137160"/>
          </a:xfrm>
          <a:prstGeom prst="downArrow">
            <a:avLst/>
          </a:prstGeom>
          <a:solidFill>
            <a:srgbClr val="D9A441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5166360"/>
            <a:ext cx="9235440" cy="621792"/>
          </a:xfrm>
          <a:prstGeom prst="roundRect">
            <a:avLst>
              <a:gd name="adj" fmla="val 5882"/>
            </a:avLst>
          </a:prstGeom>
          <a:solidFill>
            <a:srgbClr val="A97A1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1663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BI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80360" y="516636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opérationnels • rapports périodiques orchestrés (readiness gates) • pixel-perfect réglementaire • distribution &amp; archivage WORM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21240" y="1325880"/>
            <a:ext cx="1764792" cy="4462272"/>
          </a:xfrm>
          <a:prstGeom prst="roundRect">
            <a:avLst>
              <a:gd name="adj" fmla="val 2073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268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828800"/>
            <a:ext cx="1600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(Airflow / Dagster)</a:t>
            </a:r>
            <a:endParaRPr lang="en-US" sz="880" dirty="0"/>
          </a:p>
          <a:p>
            <a:pPr algn="ctr" indent="0" marL="0">
              <a:buNone/>
            </a:pP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&amp; lignage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(DataHub / Atlas)</a:t>
            </a:r>
            <a:endParaRPr lang="en-US" sz="880" dirty="0"/>
          </a:p>
          <a:p>
            <a:pPr algn="ctr" indent="0" marL="0">
              <a:buNone/>
            </a:pP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RBAC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(Ranger, masquage)</a:t>
            </a:r>
            <a:endParaRPr lang="en-US" sz="880" dirty="0"/>
          </a:p>
          <a:p>
            <a:pPr algn="ctr" indent="0" marL="0">
              <a:buNone/>
            </a:pP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data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piliers)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02920" y="5943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ajoute de la valeur et des garanties : la fiabilité d’un rapport se construit couche par couche, pas au moment de l’impression.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de référence : on-premise souverain ou cloud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3977640"/>
          </a:xfrm>
          <a:prstGeom prst="roundRect">
            <a:avLst>
              <a:gd name="adj" fmla="val 1264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72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66878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7864" y="155448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(modèle Adyen / Mastercard / switch national)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2148840"/>
            <a:ext cx="4983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Schema Registry, Flink (fraude, agrégats temps réel)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/ Ozone / MinIO S3 + Iceberg ou Hudi, Spark, Hive Metastore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Requêtage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 (SQL fédéré), ClickHouse ou Druid (OLAP opérationnel)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ou Dagster (assets, partitions, sensors)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(RBAC, masquage), Atlas / DataHub (lignage), Protegrity / Voltage (tokenisation FPE)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/ Power BI + JasperReports (pixel-perfect réglementaire)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417320"/>
            <a:ext cx="5486400" cy="3977640"/>
          </a:xfrm>
          <a:prstGeom prst="roundRect">
            <a:avLst>
              <a:gd name="adj" fmla="val 1264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572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66878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12864" y="155448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(modèle Capital One / JPMorgan / Stripe)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2148840"/>
            <a:ext cx="4983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(Delta, médaillon natif), Snowflake (+ tables Iceberg) ou BigQuery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managé / Confluent, Flink managé, Kinesis / PubSub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/ Lake Formation : masquage colonne / ligne / valeur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natif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 → IA → Glacier → Deep Archive par lifecycle policies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?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réglementation locale l’autorise ; l’élasticité absorbe les pics (Black Friday, fin de mois)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fréquent en monétique : temps réel on-prem près du switch, analytique froid dans le cloud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17320"/>
            <a:ext cx="2651760" cy="2651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B3A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68580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ingestion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 chaque événement monétique une seule fois, dans l’ordre, et sans donnée sensible en clair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Cartographie des sources monétiques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51760" cy="221284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72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66878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7864" y="1554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d’autorisation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04088" y="2075688"/>
            <a:ext cx="22494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ISO 8583 (0100/0110, 0200/0210, reversals 0400), codes réponse, stand-in, latences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704088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64992" y="1417320"/>
            <a:ext cx="2651760" cy="221284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47872" y="1572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1668780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9936" y="1554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 / ATM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566160" y="2075688"/>
            <a:ext cx="22494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 électroniques, états techniques, niveaux de cash, incidents, capture de cartes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356616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batch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27064" y="1417320"/>
            <a:ext cx="2651760" cy="221284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9944" y="1572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668780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22008" y="1554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/ POS &amp; e-commerce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28232" y="2075688"/>
            <a:ext cx="22494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Concentrateurs TPE, passerelle e-commerce, 3-D Secure / SCA, tokenisation</a:t>
            </a:r>
            <a:endParaRPr lang="en-US" sz="980" dirty="0"/>
          </a:p>
        </p:txBody>
      </p:sp>
      <p:sp>
        <p:nvSpPr>
          <p:cNvPr id="23" name="Text 18"/>
          <p:cNvSpPr/>
          <p:nvPr/>
        </p:nvSpPr>
        <p:spPr>
          <a:xfrm>
            <a:off x="6428232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089136" y="1417320"/>
            <a:ext cx="2651760" cy="221284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72016" y="1572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028" y="1668780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784080" y="1554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de compensation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9290304" y="2075688"/>
            <a:ext cx="22494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 (Mastercard), BASE II / CTF (Visa), fichiers du switch national, relevés de règlement</a:t>
            </a:r>
            <a:endParaRPr lang="en-US" sz="980" dirty="0"/>
          </a:p>
        </p:txBody>
      </p:sp>
      <p:sp>
        <p:nvSpPr>
          <p:cNvPr id="29" name="Text 23"/>
          <p:cNvSpPr/>
          <p:nvPr/>
        </p:nvSpPr>
        <p:spPr>
          <a:xfrm>
            <a:off x="9290304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J+1 / J+2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2920" y="3813048"/>
            <a:ext cx="2651760" cy="221284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85800" y="39684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064508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97864" y="39502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&amp; référentiels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704088" y="4471416"/>
            <a:ext cx="22494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Porteurs, cartes, contrats commerçants, paramétrage GAB/TPE, BIN, MCC — via CDC</a:t>
            </a:r>
            <a:endParaRPr lang="en-US" sz="980" dirty="0"/>
          </a:p>
        </p:txBody>
      </p:sp>
      <p:sp>
        <p:nvSpPr>
          <p:cNvPr id="35" name="Text 28"/>
          <p:cNvSpPr/>
          <p:nvPr/>
        </p:nvSpPr>
        <p:spPr>
          <a:xfrm>
            <a:off x="704088" y="5641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quasi temps réel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364992" y="3813048"/>
            <a:ext cx="2651760" cy="221284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547872" y="39684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3884" y="4064508"/>
            <a:ext cx="210312" cy="2103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059936" y="39502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&amp; sécurité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3566160" y="4471416"/>
            <a:ext cx="22494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 HSM, logs de sécurité et d’accès — topics à ACL renforcées</a:t>
            </a:r>
            <a:endParaRPr lang="en-US" sz="980" dirty="0"/>
          </a:p>
        </p:txBody>
      </p:sp>
      <p:sp>
        <p:nvSpPr>
          <p:cNvPr id="41" name="Text 33"/>
          <p:cNvSpPr/>
          <p:nvPr/>
        </p:nvSpPr>
        <p:spPr>
          <a:xfrm>
            <a:off x="3566160" y="5641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227064" y="3813048"/>
            <a:ext cx="2651760" cy="221284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409944" y="39684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064508"/>
            <a:ext cx="210312" cy="21031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922008" y="39502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litiges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6428232" y="4471416"/>
            <a:ext cx="22494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Chargebacks, représentations, motifs (reason codes), arbitrages</a:t>
            </a:r>
            <a:endParaRPr lang="en-US" sz="980" dirty="0"/>
          </a:p>
        </p:txBody>
      </p:sp>
      <p:sp>
        <p:nvSpPr>
          <p:cNvPr id="47" name="Text 38"/>
          <p:cNvSpPr/>
          <p:nvPr/>
        </p:nvSpPr>
        <p:spPr>
          <a:xfrm>
            <a:off x="6428232" y="5641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+ batch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9089136" y="3813048"/>
            <a:ext cx="2651760" cy="221284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272016" y="39684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028" y="4064508"/>
            <a:ext cx="210312" cy="21031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784080" y="39502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 externes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9290304" y="4471416"/>
            <a:ext cx="22494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réseaux (interchange, MCC), calendriers de cycles, taux de change</a:t>
            </a:r>
            <a:endParaRPr lang="en-US" sz="980" dirty="0"/>
          </a:p>
        </p:txBody>
      </p:sp>
      <p:sp>
        <p:nvSpPr>
          <p:cNvPr id="53" name="Text 43"/>
          <p:cNvSpPr/>
          <p:nvPr/>
        </p:nvSpPr>
        <p:spPr>
          <a:xfrm>
            <a:off x="9290304" y="5641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périodique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Kafka, backbone unique des flux monétiques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858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Adaptateur ISO 8583 → Avro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message d’autorisation est converti en Avro, avec Schema Registry obligatoire : le schéma est un contrat versionné, pas une convention orale.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Partitionnement par PAN tokenisé / compte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l’ordre des événements par porteur (indispensable aux fenêtres de vélocité anti-fraude).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sur les flux financiers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producteurs idempotents (numéros de séquence) + transactions Kafka ; consommateurs en read_committed. Modèle Stripe : le log devient source de vérité.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Dimensionnement pour les pics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3× sur les partitions ; PayPal encaisse 21 M msg/s en pic avec 1 500+ brokers et une réplication MirrorMaker inter-sites.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&amp; tiered storage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jours en rétention classique ; KIP-405 : 6–24 h en local, semaines/mois sur stockage objet pour le reprocessing.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contrôle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ACL, quotas, clients standardisés, config centralisée — la leçon n°1 de PayPal : sans plan de contrôle, le backbone devient ingouvernable.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35240" y="1463040"/>
            <a:ext cx="4050792" cy="4846320"/>
          </a:xfrm>
          <a:prstGeom prst="roundRect">
            <a:avLst>
              <a:gd name="adj" fmla="val 1354"/>
            </a:avLst>
          </a:prstGeom>
          <a:solidFill>
            <a:srgbClr val="121A44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0" y="2103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863840" y="2606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/ seconde en pic (PayPal, Black Friday)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34015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99,9999 %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63840" y="3904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du backbone Kafka de Stripe (proxy multi-clusters)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0" y="47000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 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863840" y="52029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désordre (out-of-orderness) typique toléré par les watermarks d’autorisation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 : les référentiels sans peser sur les systèmes 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291840" cy="1051560"/>
          </a:xfrm>
          <a:prstGeom prst="roundRect">
            <a:avLst>
              <a:gd name="adj" fmla="val 3913"/>
            </a:avLst>
          </a:prstGeom>
          <a:solidFill>
            <a:srgbClr val="121A44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08760"/>
            <a:ext cx="323697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/ émission / acquisition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 (PostgreSQL, MySQL, SQL Server, Oracle) ou GoldenGate (cores Oracle critiques)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13048" y="1920240"/>
            <a:ext cx="2743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1508760"/>
            <a:ext cx="3291840" cy="105156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142232" y="1508760"/>
            <a:ext cx="323697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Kafka par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INSERT / UPDATE / DELETE horodatés, schéma versionné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24928" y="1920240"/>
            <a:ext cx="2743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6680" y="1508760"/>
            <a:ext cx="3291840" cy="1051560"/>
          </a:xfrm>
          <a:prstGeom prst="roundRect">
            <a:avLst>
              <a:gd name="adj" fmla="val 3913"/>
            </a:avLst>
          </a:prstGeom>
          <a:solidFill>
            <a:srgbClr val="2570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54112" y="1508760"/>
            <a:ext cx="323697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: dimensions SCD2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historisation valid_from / valid_to : la carte, le commerçant, le terminal tels qu’ils étaient au moment de la transaction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Log-based, jamais query-based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capture lit le journal de transactions de la base (binlog, redo log) : zéro requête intrusive sur les systèmes d’autorisation ou le core banking.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CDC nourrit la cohérence des rapports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décomptes par segment, agence, gamme de carte exigent des dimensions à jour ET historisées — un rapport de juin doit utiliser le référentiel de juin.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à la frontière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schéma, sémantique et SLA de livraison validés au niveau du Schema Registry ; un changement de schéma source ne doit jamais casser silencieusement un rapport.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sensibles isolés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journaux HSM et logs de sécurité empruntent le même chemin technique mais des topics à ACL renforcées et un chiffrement de bout en bout.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ISO 20022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schémas doivent prévoir les données structurées enrichies (émetteur, bénéficiaire, motifs) de la migration en cours des réseaux.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Fichiers de compensation : le batch qui fait foi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029968" cy="1188720"/>
          </a:xfrm>
          <a:prstGeom prst="roundRect">
            <a:avLst>
              <a:gd name="adj" fmla="val 3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08760"/>
            <a:ext cx="197510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Réception MFT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sécurisé, accusé de réception, contrôle d’intégrité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51176" y="1984248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2798064" y="1508760"/>
            <a:ext cx="2029968" cy="1188720"/>
          </a:xfrm>
          <a:prstGeom prst="roundRect">
            <a:avLst>
              <a:gd name="adj" fmla="val 346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825496" y="1508760"/>
            <a:ext cx="197510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Contrôle manifest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d’enregistrements, checksums, totaux de contrôle par fichier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1984248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5093208" y="1508760"/>
            <a:ext cx="2029968" cy="1188720"/>
          </a:xfrm>
          <a:prstGeom prst="roundRect">
            <a:avLst>
              <a:gd name="adj" fmla="val 346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508760"/>
            <a:ext cx="197510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Dépôt bronze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brut conservé TEL QUEL : preuve d’audit opposable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41464" y="1984248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5" name="Shape 13"/>
          <p:cNvSpPr/>
          <p:nvPr/>
        </p:nvSpPr>
        <p:spPr>
          <a:xfrm>
            <a:off x="7388352" y="1508760"/>
            <a:ext cx="2029968" cy="1188720"/>
          </a:xfrm>
          <a:prstGeom prst="roundRect">
            <a:avLst>
              <a:gd name="adj" fmla="val 346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15784" y="1508760"/>
            <a:ext cx="197510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Parsing &amp; typage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 / BASE II / format switch → tables bronze structurées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436608" y="1984248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9683496" y="1508760"/>
            <a:ext cx="2029968" cy="1188720"/>
          </a:xfrm>
          <a:prstGeom prst="roundRect">
            <a:avLst>
              <a:gd name="adj" fmla="val 3462"/>
            </a:avLst>
          </a:prstGeom>
          <a:solidFill>
            <a:srgbClr val="A97A1F"/>
          </a:solidFill>
          <a:ln/>
        </p:spPr>
      </p:sp>
      <p:sp>
        <p:nvSpPr>
          <p:cNvPr id="19" name="Text 17"/>
          <p:cNvSpPr/>
          <p:nvPr/>
        </p:nvSpPr>
        <p:spPr>
          <a:xfrm>
            <a:off x="9710928" y="1508760"/>
            <a:ext cx="197510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Marqueur de complétude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batch_id, statut COMPLETE, comptages publiés dans la table de signaux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108960"/>
            <a:ext cx="11155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clearing est la référence comptable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lui qui porte l’interchange, les frais réseau et les montants définitifs — les rapports financiers se calent sur lui, pas sur les autorisations.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tronqué détecté AVANT le rapport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de manifest (counts + checksums) et la détection d’anomalie de volume bloquent la chaîne aval — cas d’usage n°1 de l’observabilité data.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 du rechargement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rejoué (incident, correction réseau) écrase proprement sa partition d’ingestion : jamais d’append aveugle, donc jamais de double comptage.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de correction tardifs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réseaux émettent des ajustements J+3 / J+n : ils suivent le même chemin et déclenchent le retraitement incrémental des partitions de dates événement touchées.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PCI-DSS : sortir le lake du périmètre de certification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3.4.1 — PAN illisible partout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PAN en clair dans la plateforme, y compris en zone bronze : tokenisation, chiffrement ou hachage keyed dès l’ingestion.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FPE vaultless à l’entrée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token préserve le format du PAN : jointures, partitionnement et BIN analytique fonctionnent, sans valeur monnayable. Le détokenizeur vit dans une enclave PCI restreinte.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3.5.1 — masquage à l’affichage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+ 4 derniers chiffres maximum, selon des rôles documentés (masquage dynamique Ranger / Unity Catalog).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d’authentification interdites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CVV, PIN, pistes : jamais stockés après autorisation — filtrés à l’adaptateur d’ingestion, pas en aval.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en profondeur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au repos (TDE / SSE-KMS), environnements de dev/test sur données masquées, journaux d’accès immuables 12 mois (dont 3 en ligne).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architecture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tokenisé à l’entrée, le lakehouse sort du périmètre PCI (ou le réduit drastiquement) : audits plus simples, équipes data moins contraintes.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463040"/>
            <a:ext cx="4142232" cy="4846320"/>
          </a:xfrm>
          <a:prstGeom prst="roundRect">
            <a:avLst>
              <a:gd name="adj" fmla="val 1325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642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 TOKENISATION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reçu du switch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0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4970 1012 3456 7890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0" y="2834640"/>
            <a:ext cx="237744" cy="320040"/>
          </a:xfrm>
          <a:prstGeom prst="downArrow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FPE stocké dans le lake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3502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4970 10XX 9843 1206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0" y="40233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préservé (analytique par émetteur), format préservé (jointures), aucune valeur exploitable en cas de fuite.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983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BI (masquage par rôle)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0" y="5239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4970 10•• •••• 7890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17320"/>
            <a:ext cx="2651760" cy="2651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B3A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68580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Lakehouse &amp; stockage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L’architecture médaillon : des données brutes opposables aux agrégats certifiés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médaillon : la qualité par étages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542032" cy="2286000"/>
          </a:xfrm>
          <a:prstGeom prst="roundRect">
            <a:avLst>
              <a:gd name="adj" fmla="val 2000"/>
            </a:avLst>
          </a:prstGeom>
          <a:solidFill>
            <a:srgbClr val="121A4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6002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196596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bruts tels que reçus, checksums, métadonnées de réception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3108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active 30–90 j puis archive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2487168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463040"/>
            <a:ext cx="2542032" cy="2286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002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 table, schéma source préservé, append-only, colonnes techniques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Rejeu sans re-solliciter les sources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70448" y="2487168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6117336" y="1463040"/>
            <a:ext cx="2542032" cy="2286000"/>
          </a:xfrm>
          <a:prstGeom prst="roundRect">
            <a:avLst>
              <a:gd name="adj" fmla="val 2000"/>
            </a:avLst>
          </a:prstGeom>
          <a:solidFill>
            <a:srgbClr val="2B3A7E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16002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1928" y="196596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Nettoyé, dédupliqué, conformé ; entités résolues ; upserts MERGE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81928" y="3108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analytique &amp; features 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77656" y="2487168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1" name="Shape 19"/>
          <p:cNvSpPr/>
          <p:nvPr/>
        </p:nvSpPr>
        <p:spPr>
          <a:xfrm>
            <a:off x="8924544" y="1463040"/>
            <a:ext cx="2542032" cy="2286000"/>
          </a:xfrm>
          <a:prstGeom prst="roundRect">
            <a:avLst>
              <a:gd name="adj" fmla="val 2000"/>
            </a:avLst>
          </a:prstGeom>
          <a:solidFill>
            <a:srgbClr val="A97A1F"/>
          </a:solidFill>
          <a:ln/>
        </p:spPr>
      </p:sp>
      <p:sp>
        <p:nvSpPr>
          <p:cNvPr id="22" name="Text 20"/>
          <p:cNvSpPr/>
          <p:nvPr/>
        </p:nvSpPr>
        <p:spPr>
          <a:xfrm>
            <a:off x="9089136" y="16002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89136" y="196596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Étoiles dimensionnelles, agrégats certifiés, tables de reporting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89136" y="3108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BI, rapports, réglementaire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023360"/>
            <a:ext cx="11155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gouverné à part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d’exploration par équipe (data scientists, analystes fraude) avec quotas et TTL automatique (purge à 90 j) — jamais promues en production sans pipeline gouverné.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strictes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nommage par couche et domaine (bronze.switch_autorisations, silver.transactions, gold.fct_autorisations_jour), schema enforcement en argent, évolution contrôlée en bronze.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vérité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chaud (Flink) et chemin froid (Spark) écrivent dans les MÊMES tables ACID : le dashboard temps réel et le rapport mensuel partent de la même donnée.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: la mémoire brute, immuable et rejouable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jamais modifié — </a:t>
            </a:r>
            <a:pPr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messages ISO 8583 sérialisés, les fichiers clearing intacts et les événements CDC sont écrits une fois et gardés tels quels.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techniques systématiques — </a:t>
            </a:r>
            <a:pPr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_ingested_at, _source_file, _batch_id, _ingest_date : chaque ligne sait d’où elle vient et quand elle est arrivée — la base de tout audit et de tout debug de complétude.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Partitionné par date d’INGESTION — </a:t>
            </a:r>
            <a:pPr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batch = une partition : rechargement idempotent, backfills reproductibles (« la même partition produit toujours la même sortie »).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retraitement — </a:t>
            </a:r>
            <a:pPr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recalcul aval (bug, nouvelle règle, late events) repart du bronze sans re-solliciter le switch ni le core banking.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réglementaire — </a:t>
            </a:r>
            <a:pPr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de compensation original est la pièce opposable en cas de litige interbancaire — il est conservé, checksummé, et archivé en WORM.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35240" y="1463040"/>
            <a:ext cx="4050792" cy="4754880"/>
          </a:xfrm>
          <a:prstGeom prst="roundRect">
            <a:avLst>
              <a:gd name="adj" fmla="val 1354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TYPE — bronze.autorisations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2011680"/>
            <a:ext cx="3657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msg_type            "0210"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                 "845112"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rrn                  "618809114732"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pan_token     "497010XX98431206"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                12 500,00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code_reponse              "00"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ts_evenement  25/07 14:02:11.318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_ingested_at  25/07 14:02:12.044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_source        kafka:auth.iso8583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_batch_id            8815-2207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_ingest_date        2026-07-25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Argent : conformer, dédupliquer, résoudre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55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réponse ISO 8583, MCC, devises ISO 4217, fuseaux horaires, montants en devise de référence — un seul vocabulaire pour toute la plateforme.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 par clé métier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idempotente (RRN + STAN + date + terminal), fenêtre de dédup 24–48 h glissantes ; cible industrielle : &lt; 0,01 % de doublons (standard Uber).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d’entités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↔ porteur, terminal ↔ commerçant ↔ acquéreur : les jointures de référence sont faites une fois, correctement, avec les dimensions SCD2.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unifiée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 maîtresse rapproche autorisation + clearing + règlement + litige par MERGE incrémental (pattern Uber/Hudi) — le cœur analytique de la monétique.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4343400"/>
            <a:ext cx="11183112" cy="1874520"/>
          </a:xfrm>
          <a:prstGeom prst="roundRect">
            <a:avLst>
              <a:gd name="adj" fmla="val 2927"/>
            </a:avLst>
          </a:prstGeom>
          <a:solidFill>
            <a:srgbClr val="121A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262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DATA VAULT 2.0 — quand l’auditabilité prime (switch national, banque centrale)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86460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(Porteur, Carte, Commerçant, Terminal, Transaction) •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(autorisation ↔ clearing ↔ chargeback) •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historisés insert-only. Traçabilité totale, chargements parallélisables, aucune perte d’historique — les marts dimensionnels (or) sont dérivés du vault. À réserver aux contextes où la contrainte d’audit justifie la complexité.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: les produits de données qui servent les rapports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1450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7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dimensionnels par domaine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4088" y="2121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Étoiles Kimball : émission, acquisition, fraude, litiges, GAB. Faits + dimensions conformées, prêts pour la BI et le pixel-perfect.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71450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12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 certifiés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19088" y="2121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agg_autorisations_jour (jour × émetteur × réseau × canal × code réponse), agg_fraude_mois_bps, agg_dispo_gab_jour — pré-calculés, testés, versionnés.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749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000500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97864" y="3886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« scheme reporting »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04088" y="4407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 alignés sur les ventilations exigées : GOC Visa, QMR Mastercard, fraude PSD2 (instrument × géographie × SCA), statistiques banque centrale.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17920" y="3749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4000500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2864" y="3886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 par domaine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19088" y="4407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data mesh (JPMorgan) : chaque domaine a un propriétaire, un contrat d’interface, des SLO publiés — « partager, pas copier ».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601675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un rapport réglementaire ne lit JAMAIS l’argent ou le bronze — uniquement des tables or certifiées, avec version de données et lignage attachés.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Partitionnement : la clé de la gestion des événements tardifs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86400" cy="237744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1450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7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par date d’INGESTION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4088" y="2121408"/>
            <a:ext cx="5084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L’écriture est strictement append : un batch = une partition.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Idempotence : rejouer un batch écrase sa partition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Backfills reproductibles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Aucune réécriture d’historique à l’arrivée d’un retardataire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486400" cy="237744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71450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12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 / Or — par date d’ÉVÉNEMENT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19088" y="2121408"/>
            <a:ext cx="5084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la clé de requête métier (« les transactions du 15 juillet »).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 sur les partitions de dates événement touchées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Fenêtre glissante configurable (typiquement J-7)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Au-delà de la fenêtre → backfill contrôlé et tracé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114800"/>
            <a:ext cx="11155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batch d’ingestion touche plusieurs dates événement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clearing reçu le 26/07 contient des transactions du 24, 25 et 26 : le pipeline argent ne réécrit que ces trois partitions événement — jamais toute la table.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intra-partition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Z-ordering / liquid clustering sur les colonnes de filtre à forte cardinalité (pan_token, merchant_id, terminal_id) pour maximiser le data skipping.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sur-partitionnement (jour × heure × MCC), partitions &lt; 1 Go, partitionnement par une seule des deux dates « parce que c’est plus simple ».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Formats de table et maintenance industrialisée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246120"/>
                <a:gridCol w="304495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Iceberg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Hudi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Lake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Écosystème multi-moteurs (Trino, Spark, Flink), catalogue REST — choix de Netflix, Stripe, Capital 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Upserts natifs record-level, ETL incrémental — créé par Uber pour ce besoin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Databricks, liquid clustering, médaillon natif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Upserts / MERGE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ACID, copy-on-write / merge-on-read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 primitif (le plus mature), incremental pull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ACID optimisé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travel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 + expiration réglable (7–30 j)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+ commits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 + VACUUM (défaut 7 j)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monétique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multi-moteurs, SQL fédéré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Réconciliation auth ↔ clearing à fort volume d’upserts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Databricks intégrée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25780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= des services, pas des tickets (modèle Netflix) —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automatique des petits fichiers (cible 128 Mo–1 Go), expiration de snapshots, remove_orphan_files, compression zstd (~ –30 % vs Snappy).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prouvable —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« Janitors » appliquent TTL et purge réglementaire table par table, avec journal d’exécution — l’auditeur veut la preuve, pas la promesse.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17320"/>
            <a:ext cx="2651760" cy="2651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B3A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68580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Tiering &amp; cycle de vie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 le coût du stockage sur la valeur d’accès, sous contrainte de rétention réglementaire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températures, quatre contrats d’accès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3703320"/>
                <a:gridCol w="3063240"/>
                <a:gridCol w="181051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typique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d’accès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30 jours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Dashboards, fraude, réconciliation J+1, rapports quotidiens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 / SSD, S3 Standard, OLAP (ClickHouse/Druid)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Millisecondes à secondes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9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6 mois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Analyses de tendance, enquêtes fraude, rapports mensuels/trimestriels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HDD, S3 Standard-IA, Parquet compacté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mois – 3 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Audits, litiges &amp; chargebacks, historiques réglementaires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 ARCHIVE / erasure coding, Glacier Instant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Secondes à 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10 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Rétention légale, contentieux exceptionnels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Glacier Flexible / Deep Archive, bandes WORM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Heures (restauration)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440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Automatique, jamais manuel —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 (S3) ou politiques HDFS + démon Mover : les transitions se déclenchent à l’âge, la purge à l’échéance de rétention.</a:t>
            </a:r>
            <a:endParaRPr lang="en-US" sz="10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tier ne change pas la vérité —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requête d’audit sur 2019 doit produire le même chiffre qu’en 2019 — le tiering déplace les octets, jamais le contenu ni le schéma logique.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L’économie du tiering : un rapport de 1 à 23 sur le coût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90372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23 d’écart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S3 Standard (23 $/To/mois) et Deep Archive (0,99 $) : sur 10 ans de rétention monétique, le tiering est un levier de coût majeur.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: erasure coding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3, RS(6,3) : overhead 50 % au lieu de 200 % en réplication 3× — ~50 % d’économie sur le froid, à tolérance de panne équivalente.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connus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par requête de transition (compacter AVANT de transitionner), durées minimales facturées (30/90/180 j), frais de récupération Glacier.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figé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Parquet + zstd, gros fichiers (512 Mo–1 Go), manifest + checksum — lisible dans 10 ans sans dépendre du catalogue du jour.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tiering existe à chaque étage de la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1450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7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tiered storage (KIP-405)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" y="2121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actifs en local (6–24 h, page cache pour les tail reads) ; segments clos sur stockage objet (semaines/mois). Reprocessing historique sans surdimensionner les brokers ; rebalancing accéléré.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71450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12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/ Druid — OLAP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19088" y="2121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: TTL par table (30 j → volume cold, 90 j → S3, 1 an → DELETE). Druid : load rules par période (P1M → tier hot, P36M → cold, dropForever au-delà), deep storage comme référence.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02920" y="3749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000500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97864" y="3886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— Iceberg / Delta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04088" y="4407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récentes sur stockage rapide, anciennes déplacées par lifecycle ; expiration de snapshots (7–30 j) pour borner le time travel ; compaction avant transition.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6217920" y="3749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4000500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2864" y="3886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légale — WORM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19088" y="4407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émis et fichiers clearing originaux en Object Lock mode compliance : aucune suppression possible avant échéance, même par un administrateur.</a:t>
            </a:r>
            <a:endParaRPr lang="en-US" sz="1080" dirty="0"/>
          </a:p>
        </p:txBody>
      </p:sp>
      <p:sp>
        <p:nvSpPr>
          <p:cNvPr id="26" name="Text 20"/>
          <p:cNvSpPr/>
          <p:nvPr/>
        </p:nvSpPr>
        <p:spPr>
          <a:xfrm>
            <a:off x="502920" y="601675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d’ensemble : les fenêtres de rétention de chaque composant doivent être alignées sur les fenêtres métier (dédup 48 h, late events J-7, chargebacks 18 mois, rétention 10 ans).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Rétention réglementaire : conserver, prouver, purger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91640"/>
                <a:gridCol w="3017520"/>
                <a:gridCol w="34564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 typique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Implémentation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Pièces comptables &amp; 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de commerce / obligations comptables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 Parquet figée + WORM, purge par Janitor à l’échéance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LCB-FT / KYC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Directives anti-blanchiment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cold, accès restreint, journal d’accès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Justificatifs litiges / chargebacks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– 18 mois min.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Fenêtres des réseaux (chargeback + arbitrage)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puis cold ; fenêtre MERGE alignée (18 mois)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Journaux d’audit PCI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mois (3 en ligne)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Req. 10.5.1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3 mois, warm 9 mois, immuables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CVV / PIN / pistes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JAMAIS stockés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— interdiction absolue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Filtrage à l’adaptateur d’ingestion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 / time travel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– 30 jours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technique (restatement, debug)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expire_snapshots automatisé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prouvable et minimisation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purge est journalisée (quoi, quand, pourquoi) ; le crypto-shredding (destruction de clé) traite le droit à l’effacement sans réécrire les archives WORM.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17320"/>
            <a:ext cx="2651760" cy="2651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B3A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68580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&amp; modélisation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chemin chaud pour décider en millisecondes, un chemin froid pour compter juste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Chemin chaud : Flink pour la fraude et la supervision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5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par état local — </a:t>
            </a:r>
            <a:pPr indent="0" marL="0">
              <a:lnSpc>
                <a:spcPct val="104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porteur, risque commerçant, empreinte terminal chargés en état Flink : jointures en mémoire, pas d’appel base à chaque transaction.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5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de vélocité — </a:t>
            </a:r>
            <a:pPr indent="0" marL="0">
              <a:lnSpc>
                <a:spcPct val="104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/ montant de transactions par carte sur 1 min / 1 h / 24 h, distances géographiques impossibles, patterns de test de cartes.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5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broadcast — </a:t>
            </a:r>
            <a:pPr indent="0" marL="0">
              <a:lnSpc>
                <a:spcPct val="104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métier (seuils, listes) sont diffusées à chaud sur tous les nœuds — mise à jour sans redéploiement.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5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ML embarqué — </a:t>
            </a:r>
            <a:pPr indent="0" marL="0">
              <a:lnSpc>
                <a:spcPct val="104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exportés (ONNX) évalués dans le flux ; features servies par le feature store online (pattern Michelangelo/Uber : mêmes features offline et online).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5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de bout en bout — </a:t>
            </a:r>
            <a:pPr indent="0" marL="0">
              <a:lnSpc>
                <a:spcPct val="104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cohérents + two-phase commit vers les sinks transactionnels (Kafka, lakehouse) : aucun événement perdu ni compté deux fois.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5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outputs systématiques — </a:t>
            </a:r>
            <a:pPr indent="0" marL="0">
              <a:lnSpc>
                <a:spcPct val="104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événement trop tardif pour sa fenêtre part dans un flux dédié vers la table de corrections — jamais de drop silencieux.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35240" y="1463040"/>
            <a:ext cx="4050792" cy="4754880"/>
          </a:xfrm>
          <a:prstGeom prst="roundRect">
            <a:avLst>
              <a:gd name="adj" fmla="val 1354"/>
            </a:avLst>
          </a:prstGeom>
          <a:solidFill>
            <a:srgbClr val="121A44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LATENCE FRAUDE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0" y="2148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Kafka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78440" y="21488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0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état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78440" y="2532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vélocité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78440" y="29169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33009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modèle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78440" y="33009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36850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+ réponse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78440" y="36850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4114800"/>
            <a:ext cx="35661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4233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cible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9264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800 ms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: architectures fraude 50 000 TPS (Kafka + Flink + Iceberg)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Chemin froid : l’ETL incrémental, pas le full-recompute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542032" cy="1143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08760"/>
            <a:ext cx="248716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 seulement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nouveaux commits (incremental pull Hudi / snapshots Iceberg) depuis le dernier checkpoint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965960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3310128" y="1508760"/>
            <a:ext cx="2542032" cy="1143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08760"/>
            <a:ext cx="248716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ciblé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des partitions de dates événement touchées (fenêtre J-7)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70448" y="1965960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7336" y="1508760"/>
            <a:ext cx="2542032" cy="1143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1508760"/>
            <a:ext cx="248716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 minimal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Rafraîchir uniquement les agrégats des partitions modifiées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77656" y="1965960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5" name="Shape 13"/>
          <p:cNvSpPr/>
          <p:nvPr/>
        </p:nvSpPr>
        <p:spPr>
          <a:xfrm>
            <a:off x="8924544" y="1508760"/>
            <a:ext cx="2542032" cy="1143000"/>
          </a:xfrm>
          <a:prstGeom prst="roundRect">
            <a:avLst>
              <a:gd name="adj" fmla="val 3600"/>
            </a:avLst>
          </a:prstGeom>
          <a:solidFill>
            <a:srgbClr val="A97A1F"/>
          </a:solidFill>
          <a:ln/>
        </p:spPr>
      </p:sp>
      <p:sp>
        <p:nvSpPr>
          <p:cNvPr id="16" name="Text 14"/>
          <p:cNvSpPr/>
          <p:nvPr/>
        </p:nvSpPr>
        <p:spPr>
          <a:xfrm>
            <a:off x="8951976" y="1508760"/>
            <a:ext cx="248716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complétude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le marqueur « partition à jour » pour les consommateurs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11155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c’est LE pattern monétique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nuit, le clearing met à jour des transactions déjà connues : recalculer toute la table serait ruineux et lent — on ne traite que les deltas (pattern Uber : 408 M de deltas/jour vs 11 Md d’entités, SLA –14 h, coûts –78 %).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Réconciliation, interchange, commissions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chemin froid porte les calculs qui font foi : matching auth ↔ clearing ↔ règlement, calcul d’interchange par produit/MCC, frais réseau, positions nettes.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intégrée au DAG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contrôles (volumes, doublons, balances) s’exécutent ENTRE les étapes : une étape qui échoue arrête la propagation vers l’or.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ML batch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de dépense, agrégats comportementaux recalculés incrémentalement et poussés vers le feature store online.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dimensionnel monétique (Kimball)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65960"/>
                <a:gridCol w="3840480"/>
                <a:gridCol w="34564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de faits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Mesures clés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 principales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fct_autorisations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message d’autorisation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Montants demandé/autorisé, indicateur approbation, latence switch, flags 3DS/SCA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Carte, Porteur, Commerçant, Terminal, Temps, Code réponse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fct_compensations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transaction compensée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compensé, interchange, frais réseau, taux de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Carte, Commerçant, Réseau, Banques ém./acq., Temps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fct_reglements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position par cycle × banque × devise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Montants nets, dates de 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Banque, Réseau, Devise, Cycle, Temps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fct_fraude_litiges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incident / litige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Montants, statuts, reason codes, délais de résolution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Carte, Commerçant, Motif, Temps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fct_dispo_gab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 × heure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Uptime, incidents, MTTR, niveaux de 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GAB, Site, Banque, Temps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SCD2 partout —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dim_carte, dim_porteur, dim_commercant, dim_terminal, dim_mcc (hiérarchie sectorielle), dim_temps (calendrier bancaire, jours fériés, cycles) : l’historique des attributs est conservé — un rapport de juin lit le monde de juin.</a:t>
            </a:r>
            <a:endParaRPr lang="en-US" sz="10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 n’existe pas ici —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clés de substitution et le token FPE circulent ; le BIN suffit à l’analytique émetteur.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Accumulating snapshot : une ligne qui suit la transaction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1183112" cy="2194560"/>
          </a:xfrm>
          <a:prstGeom prst="roundRect">
            <a:avLst>
              <a:gd name="adj" fmla="val 2083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fct_cycle_vie_transaction — une seule ligne par transaction, mise à jour à chaque jalon (MERGE sur RRN / ARN)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dt_auth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78508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1368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dt_clearing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01368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48356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1216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dt_reglemt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71216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18204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dt_chgback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41064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8052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dt_resolut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10912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57900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lag_au_clr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80760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27748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lag_clr_rgl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50608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97596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is_cleared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0456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267444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90304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is_settled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90304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337292" y="2148840"/>
            <a:ext cx="0" cy="822960"/>
          </a:xfrm>
          <a:prstGeom prst="line">
            <a:avLst/>
          </a:prstGeom>
          <a:noFill/>
          <a:ln w="9525">
            <a:solidFill>
              <a:srgbClr val="D4DC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60152" y="212140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is_disputed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360152" y="2606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3200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→ clearing → règlement → (chargeback → représentation → arbitrage)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397764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de dates multiples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clé vers dim_temps par jalon, avec une ligne « pas encore » pour les jalons non atteints — les analyses d’entonnoir deviennent triviales.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de délai pré-calculées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auth_to_clearing_days, clearing_to_settlement_days, chargeback_age_days : les analyses de délais de compensation et de vieillissement des litiges se font sans jointure.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 mise à jour bornée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reste modifiable pendant la fenêtre chargeback maximale (18 mois), puis est gelée — cela borne le coût des MERGE et fige l’historique.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la table qui répond aux questions métier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de transactions autorisées jamais compensées ? », « quel délai moyen de règlement par réseau ? », « quel taux de litige par MCC ? »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17320"/>
            <a:ext cx="2651760" cy="2651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B3A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68580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des données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Incomplétude · Événements tardifs · Exactitude des décomptes · Restatement — le cœur du sujet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fondateur : event time ≠ processing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horloges divergentes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de l’événement (quand la transaction a eu lieu) et le temps de traitement (quand la plateforme l’observe) divergent de façon variable et NON bornée : réseau, TPE hors-ligne, fichiers batch, fuseaux.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Fenêtrer par processing time = résultats instables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total dépend de l’ordre d’arrivée : deux exécutions donnent deux chiffres. Seul le fenêtrage par event time produit des décomptes stables et reproductibles.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Dataflow (Google, VLDB 2015)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la réponse : watermarks (progression de la complétude), triggers (quand émettre), accumulation (comment corriger). Implémenté par Flink, Spark, Beam.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explicite exigé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table, chaque rapport documente son axe temporel — c’est la première ligne de son contrat de données.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463040"/>
            <a:ext cx="4142232" cy="4023360"/>
          </a:xfrm>
          <a:prstGeom prst="roundRect">
            <a:avLst>
              <a:gd name="adj" fmla="val 1364"/>
            </a:avLst>
          </a:prstGeom>
          <a:solidFill>
            <a:srgbClr val="121A44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82880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La complétude est une négociation entre exactitude, latence et coût. Il n’existe pas de rapport “final” gratuit — seulement des compromis explicites et documentés. 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18120" y="4206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Tyler Akidau (Google),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The Dataflow Model 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5669280"/>
            <a:ext cx="11183112" cy="658368"/>
          </a:xfrm>
          <a:prstGeom prst="roundRect">
            <a:avLst>
              <a:gd name="adj" fmla="val 6944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monétique : </a:t>
            </a:r>
            <a:pPr indent="0" marL="0">
              <a:buNone/>
            </a:pPr>
            <a:r>
              <a:rPr lang="en-US" sz="12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transactions du 25 juillet » est une question dont la réponse mûrit pendant plusieurs jours — l’architecture doit gérer cette maturation, pas la nier.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ÉVÉNEMENTS TARDIFS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Watermarks et allowed lateness : borner l’attente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55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de progression : « aucun événement antérieur à T n’est plus attendu ». Parfait seulement si la source garantit l’ordre ; en pratique heuristique (max observé − tolérance), donc parfois trop rapide (late events) ou trop lent (rapport qui attend).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fermée quand watermark &gt; fin de fenêtre ; allowedLateness(t) garde l’état ouvert et ré-émet des résultats corrigés ; au-delà → side output vers la table de corrections. Jamais de drop silencieux.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withWatermark(“event_time”, “10 minutes”) — attention : la garantie n’est PAS stricte (des données hors seuil peuvent encore être traitées) ; pas de side outputs natifs.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/ Dataflow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le plus complet : triggers early / on-time / late + modes discarding / accumulating / retracting — la même fenêtre émet 7, puis 14, puis 22, chaque émission corrigeant la précédente.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97680"/>
          <a:ext cx="1118311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2834640"/>
                <a:gridCol w="24963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d’événements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Tolérance watermark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lateness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Au-delà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Autorisations (switch → Kafka)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60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output → corrections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Journaux GAB / TPE (magasins hors-ligne)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 – 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24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Retraitement batch nocturne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Fichiers clearing (batch)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(batch)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Fenêtre MERGE J-7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Backfill contrôlé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fraude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 nulle (vitesse &gt; complétude)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recalculé a posteriori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ÉVÉNEMENTS TARDIFS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pattern canonique : corriger vite, converger la nuit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86400" cy="1298448"/>
          </a:xfrm>
          <a:prstGeom prst="roundRect">
            <a:avLst>
              <a:gd name="adj" fmla="val 35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(Flink)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event time, lateness courte : chiffres opérationnels immédiats, marqués « provisoires 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1298448"/>
          </a:xfrm>
          <a:prstGeom prst="roundRect">
            <a:avLst>
              <a:gd name="adj" fmla="val 3521"/>
            </a:avLst>
          </a:prstGeom>
          <a:solidFill>
            <a:srgbClr val="25708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outputs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8928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retardataires hors fenêtre alimentent une table de corrections horodatée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944368"/>
            <a:ext cx="5486400" cy="1298448"/>
          </a:xfrm>
          <a:prstGeom prst="roundRect">
            <a:avLst>
              <a:gd name="adj" fmla="val 3521"/>
            </a:avLst>
          </a:prstGeom>
          <a:solidFill>
            <a:srgbClr val="2B3A7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540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Retraitement nocturne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37413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batch rejoue la journée depuis le bronze et ÉCRASE les agrégats : convergence garantie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944368"/>
            <a:ext cx="5486400" cy="1298448"/>
          </a:xfrm>
          <a:prstGeom prst="roundRect">
            <a:avLst>
              <a:gd name="adj" fmla="val 3521"/>
            </a:avLst>
          </a:prstGeom>
          <a:solidFill>
            <a:srgbClr val="A97A1F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0540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glissante J-7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37413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MERGE quotidien ne touche que les partitions événement des 7 derniers jours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marche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réel privilégie la latence (chiffres utiles tout de suite), le batch privilégie l’exactitude (chiffres justes demain matin) — et les DEUX écrivent dans les mêmes tables : pas de « deux vérités ».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J-7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événement plus tardif que la fenêtre (correction réseau J+15) déclenche un backfill explicite, tracé, avec republication versionnée du rapport concerné — jamais une réécriture silencieuse.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INCOMPLÉTUDE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Décider qu’une partition est « complète 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23367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/ calibrage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Marqueur _SUCCESS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job a fini d’écrire la partition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Signifie « le job a fini », PAS « toutes les données du monde réel sont là 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de signaux (signal 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producteur déclare : dataset X, partition J, status=COMPLETE, row_count=N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Fondement des « data landing SLAs » : engagement contractuel de pose du marqueur avant T+N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Attente T+N calibrée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 d’attente fixée sur la distribution empirique des retards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T+2 h (logs internes) à T+24/48 h (flux inter-entreprises, clearing)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 de complétude relatif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reçu vs source amont, vs J-7 (saisonnalité), vs modèle de volume attendu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Publier à ≥ 99 % vs amont ; alerte sinon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Réconciliation par manifest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producteur transmet counts + checksums ; l’ingestion valide avant de poser le marqueur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plus fort — natif pour les fichiers clearing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Définition Uber de la fraîcheur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Délai après lequel les données sont complètes à 99,9 % 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complétude devient une FONCTION du temps ; le SLA est un point choisi sur la courbe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8338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la complétude se MESURE et se PUBLIE — elle ne se suppose jamais. Chaque partition porte son statut, son taux et son heure de certification.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INCOMPLÉTUDE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gates : le rapport attend la donnée certifiée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1732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86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: autorisations complètes en heures, clearing à J+1/J+2, corrections réseau jusqu’à J+7.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0" y="1554480"/>
            <a:ext cx="4846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de gates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de présence → contrôle de volume / complétude → contrôles de qualité → SEULEMENT ALORS matérialisation du rapport.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binding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lit une vue pointant la dernière partition CERTIFIÉE complète, pas une date calendaire : si J-1 n’est pas prêt, le dashboard montre J-2 avec un badge « données au… ».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L’anti-pattern classique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J-1 partiel : un chiffre à −30 % déclenche une cellule de crise… puis « remonte » tout seul. C’est le destructeur n°1 de confiance dans la data.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SLA est un point sur la courbe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flash à J+1 06h (~96 %, annoncé provisoire) ; rapport officiel à J+2 (99,5 %) ; chiffres figés à J+7.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INCOMPLÉTUDE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maturation documentée comme un produit (adtech)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1450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7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4088" y="2121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 / impressions / coûts : SLO de fraîcheur d’1 h. Conversions last-click : SLO 1 h ; autres modèles d’attribution : le lendemain 15h. Le « conversion lag » est publié par métrique, et le trafic invalide est retiré rétroactivement.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71450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12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Advertising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19088" y="2121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« plus exactes à 3–5 jours » ; fenêtres d’attribution 7–14 j ; restatements documentés à J+1, J+7 et J+28 — la recommandation officielle : re-télécharger systématiquement les 14–30 derniers jours.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502920" y="3749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000500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97864" y="3886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 (roaming)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04088" y="4407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CDR de roaming international arrivent avec jusqu’à 30 jours de retard contractuel (TAP) : la facturation et le revenue assurance sont architecturés autour de ce délai depuis 20 ans.</a:t>
            </a:r>
            <a:endParaRPr lang="en-US" sz="1060" dirty="0"/>
          </a:p>
        </p:txBody>
      </p:sp>
      <p:sp>
        <p:nvSpPr>
          <p:cNvPr id="21" name="Shape 16"/>
          <p:cNvSpPr/>
          <p:nvPr/>
        </p:nvSpPr>
        <p:spPr>
          <a:xfrm>
            <a:off x="6217920" y="3749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4000500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2864" y="3886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(cut-off)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19088" y="4407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période reste « ouverte » quelques jours (grace period) pour absorber les écritures tardives, puis hard close : toute correction ultérieure est une écriture datée dans la période courante — jamais une modification du passé.</a:t>
            </a:r>
            <a:endParaRPr lang="en-US" sz="1060" dirty="0"/>
          </a:p>
        </p:txBody>
      </p:sp>
      <p:sp>
        <p:nvSpPr>
          <p:cNvPr id="26" name="Text 20"/>
          <p:cNvSpPr/>
          <p:nvPr/>
        </p:nvSpPr>
        <p:spPr>
          <a:xfrm>
            <a:off x="502920" y="601675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transverse : même Google ne prétend pas à la complétude immédiate — les leaders PUBLIENT leur courbe de maturation et outillent la republication. La monétique doit faire pareil.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EXACTITUDE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Compter juste : exactly-once + déduplication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55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idempotent + transactions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producteurs idempotents (numéros de séquence par partition, doublons de retry éliminés) ; transactions atomiques multi-partitions avec commit des offsets ; consommateurs read_committed.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: checkpoints + two-phase commit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et offsets snapshotés de façon cohérente ; sinks transactionnels via 2PC (beginTransaction / preCommit / commit) — utilisé en production par Uber sur des flux financiers.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nuance qui sauve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vaut À L’INTÉRIEUR du périmètre transactionnel : dès qu’un système externe intervient (fichier, API partenaire), on retombe sur at-least-once + déduplication en aval.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 systématique en argent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idempotente métier (event_id / RRN+STAN+date), fenêtre bornée 24–48 h (borne l’état), MERGE plutôt qu’INSERT — cible &lt; 0,01 % de doublons (standard Uber).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Rechargements idempotents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batch écrase sa partition (overwrite), jamais d’append aveugle : rejouer un fichier ne double jamais un décompte.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4983480"/>
            <a:ext cx="11183112" cy="1234440"/>
          </a:xfrm>
          <a:prstGeom prst="roundRect">
            <a:avLst>
              <a:gd name="adj" fmla="val 4444"/>
            </a:avLst>
          </a:prstGeom>
          <a:solidFill>
            <a:srgbClr val="121A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décomptes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est compté exactement une fois PAR CONSTRUCTION (idempotence + clés + MERGE), et cette propriété est VÉRIFIÉE en continu (tests de doublons, balances entre couches) — la garantie technique ne dispense jamais du contrôle.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EXACTITUDE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– Balance – Control : la balance entre chaque couche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029968" cy="96012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08760"/>
            <a:ext cx="19751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+ totaux déclarés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51176" y="1865376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2798064" y="1508760"/>
            <a:ext cx="2029968" cy="96012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825496" y="1508760"/>
            <a:ext cx="19751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vérifiés vs manifest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1865376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5093208" y="1508760"/>
            <a:ext cx="2029968" cy="96012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508760"/>
            <a:ext cx="19751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après dédup / MERGE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41464" y="1865376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5" name="Shape 13"/>
          <p:cNvSpPr/>
          <p:nvPr/>
        </p:nvSpPr>
        <p:spPr>
          <a:xfrm>
            <a:off x="7388352" y="1508760"/>
            <a:ext cx="2029968" cy="96012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15784" y="1508760"/>
            <a:ext cx="19751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 des agrégats = détail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436608" y="1865376"/>
            <a:ext cx="237744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9683496" y="1508760"/>
            <a:ext cx="2029968" cy="960120"/>
          </a:xfrm>
          <a:prstGeom prst="roundRect">
            <a:avLst>
              <a:gd name="adj" fmla="val 4286"/>
            </a:avLst>
          </a:prstGeom>
          <a:solidFill>
            <a:srgbClr val="A97A1F"/>
          </a:solidFill>
          <a:ln/>
        </p:spPr>
      </p:sp>
      <p:sp>
        <p:nvSpPr>
          <p:cNvPr id="19" name="Text 17"/>
          <p:cNvSpPr/>
          <p:nvPr/>
        </p:nvSpPr>
        <p:spPr>
          <a:xfrm>
            <a:off x="9710928" y="1508760"/>
            <a:ext cx="19751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 croisés vs comptabilité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880360"/>
            <a:ext cx="11155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frontière, trois contrôles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(nombre de lignes), control totals (sommes des montants — tolérance ZÉRO sur les flux financiers), checksums/hashs d’échantillons.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sur écart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écart au-delà de la tolérance arrête la propagation et ouvre un incident — le pattern ABC (Audit-Balance-Control), industrialisé notamment dans les télécoms et la banque.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matching est un KPI du rapport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d’autorisations appariées à un clearing, % de clearing apparié à un règlement : ces taux figurent DANS le rapport — ils qualifient la fiabilité des chiffres présentés.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de référence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exécute ~18 000 tests de qualité et 100 000 exécutions par jour sur 2 000+ datasets critiques ; la génération des tests est automatisée depuis les métadonnées.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EXACTITUDE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Réconciliation monétique : le matching à trois voies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1183112" cy="1737360"/>
          </a:xfrm>
          <a:prstGeom prst="roundRect">
            <a:avLst>
              <a:gd name="adj" fmla="val 2632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83080"/>
            <a:ext cx="2926080" cy="105156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83080"/>
            <a:ext cx="287121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RRN / STAN / auth code — temps réel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783080"/>
            <a:ext cx="2926080" cy="1051560"/>
          </a:xfrm>
          <a:prstGeom prst="roundRect">
            <a:avLst>
              <a:gd name="adj" fmla="val 3913"/>
            </a:avLst>
          </a:prstGeom>
          <a:solidFill>
            <a:srgbClr val="2B3A7E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783080"/>
            <a:ext cx="287121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 / RRN — fichiers J+1/J+2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1783080"/>
            <a:ext cx="2926080" cy="1051560"/>
          </a:xfrm>
          <a:prstGeom prst="roundRect">
            <a:avLst>
              <a:gd name="adj" fmla="val 3913"/>
            </a:avLst>
          </a:prstGeom>
          <a:solidFill>
            <a:srgbClr val="25708A"/>
          </a:solidFill>
          <a:ln/>
        </p:spPr>
      </p:sp>
      <p:sp>
        <p:nvSpPr>
          <p:cNvPr id="12" name="Text 10"/>
          <p:cNvSpPr/>
          <p:nvPr/>
        </p:nvSpPr>
        <p:spPr>
          <a:xfrm>
            <a:off x="8211312" y="1783080"/>
            <a:ext cx="287121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nettes — T+1 à T+3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94760" y="2304288"/>
            <a:ext cx="731520" cy="0"/>
          </a:xfrm>
          <a:prstGeom prst="line">
            <a:avLst/>
          </a:prstGeom>
          <a:noFill/>
          <a:ln w="25400">
            <a:solidFill>
              <a:srgbClr val="A97A1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452360" y="2304288"/>
            <a:ext cx="731520" cy="0"/>
          </a:xfrm>
          <a:prstGeom prst="line">
            <a:avLst/>
          </a:prstGeom>
          <a:noFill/>
          <a:ln w="25400">
            <a:solidFill>
              <a:srgbClr val="A97A1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02920" y="347472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par identifiants + tolérances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appariement sur ARN/RRN avec règles de tolérance métier : écarts de change, frais, pourboires, captures partielles — un écart « expliqué » n’est pas un écart.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d’exceptions avec vieillissement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non-appariés après la fenêtre attendue entrent dans une file d’exceptions (aging + escalade) : autorisations jamais compensées, clearing orphelin, écarts de montant.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en deux temps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autorisé » (rapide, provisoire, pilotage) vs « compensé / réglé » (lent, définitif, comptable) — chaque chiffre porte son statut, l’utilisateur sait ce qu’il lit.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lakehouse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 accumulating snapshot EST le support de réconciliation : is_cleared / is_settled et les écarts par étape sont des colonnes requêtables, auditables, historisées.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RESTATEMENT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Republier proprement : bitemporalité et versions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axes de temps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time (quand le fait est vrai) et transaction time (quand le système l’a su). On répond alors à : « que savions-nous du CA du 3 juillet quand le rapport a été publié le 4 ? »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time travel offre le transaction time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snapshots Delta/Iceberg permettent de re-produire exactement un rapport passé — exigence d’audit — sans infrastructure supplémentaire.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close comptable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date de gel, on ne réécrit PLUS la partition : toute correction devient un delta daté dans la période courante, tracé et expliqué. Jamais de modification silencieuse du passé.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restatement publiée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chiffres du jour J sont révisables pendant N jours, puis figés » — transformée d’incident en fonctionnalité. Chaque rapport affiche son as_of_timestamp et sa version.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pour les dimensions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attributs (commerçant, carte, agence) sont versionnés : re-produire mars avec le référentiel de mars, pas celui d’aujourd’hui.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463040"/>
            <a:ext cx="4142232" cy="4754880"/>
          </a:xfrm>
          <a:prstGeom prst="roundRect">
            <a:avLst>
              <a:gd name="adj" fmla="val 1325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642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PUBLICATION 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0" y="2103120"/>
            <a:ext cx="3703320" cy="1207008"/>
          </a:xfrm>
          <a:prstGeom prst="roundRect">
            <a:avLst>
              <a:gd name="adj" fmla="val 3788"/>
            </a:avLst>
          </a:prstGeom>
          <a:solidFill>
            <a:srgbClr val="25708A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 — FLASH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55280" y="24871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Autorisations ~96–99 % complètes. Badge « provisoire ». Pilotage opérationnel.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0" y="3493008"/>
            <a:ext cx="3703320" cy="1207008"/>
          </a:xfrm>
          <a:prstGeom prst="roundRect">
            <a:avLst>
              <a:gd name="adj" fmla="val 378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J+2/J+7 — STABILISÉ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387705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intégré, réconciliation passée, DQ validée. Rapport officiel.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0" y="4882896"/>
            <a:ext cx="3703320" cy="1207008"/>
          </a:xfrm>
          <a:prstGeom prst="roundRect">
            <a:avLst>
              <a:gd name="adj" fmla="val 3788"/>
            </a:avLst>
          </a:prstGeom>
          <a:solidFill>
            <a:srgbClr val="A97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4974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J+28 — FINAL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0" y="526694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réseau absorbées. Chiffres figés (hard close), archivés WORM.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QUALITÉ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breakers : ne pas publier plutôt que publier faux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tests placés DANS le DAG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/ Soda / dbt tests entre chaque couche, Deequ (Spark) pour les contrôles distribués sur les très grosses tables, suggestion automatique de contraintes et détection d’anomalies sur les métriques historisées.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breaker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contrôle bloquant échoue, le circuit s’ouvre : le rapport n’est ni matérialisé ni distribué. Doctrine : « les données peuvent manquer pour une période, mais si elles sont présentes, elles sont garanties correctes ».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→ sustain → FAIL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échecs transitoires passent en avertissement avec période de « sustain » calée sur le SLA ; l’incident n’est ouvert que si l’échec persiste (pattern Uber) — un breaker trop nerveux détruit la disponibilité.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de volume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de compensation tronqué (volume −40 % vs J-7) est détecté AVANT la génération du rapport quotidien — le cas d’usage n°1 en monétique.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dégradé propre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BI : « données du J-2 ; J-1 en attente de validation » — l’utilisateur voit un état, jamais un chiffre faux.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1463040"/>
            <a:ext cx="4142232" cy="4754880"/>
          </a:xfrm>
          <a:prstGeom prst="roundRect">
            <a:avLst>
              <a:gd name="adj" fmla="val 1325"/>
            </a:avLst>
          </a:prstGeom>
          <a:solidFill>
            <a:srgbClr val="121A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6642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TYPES — RAPPORT QUOTIDIEN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18120" y="2167128"/>
            <a:ext cx="274320" cy="27432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 partition ≥ 99 %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2606040"/>
            <a:ext cx="274320" cy="27432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587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dans ±3σ vs modèle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3044952"/>
            <a:ext cx="274320" cy="27432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3026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&lt; 0,01 %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3483864"/>
            <a:ext cx="274320" cy="27432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465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montants = 0 écart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18120" y="3922776"/>
            <a:ext cx="274320" cy="27432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3904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matching clearing ≥ 98 %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4361688"/>
            <a:ext cx="274320" cy="27432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343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conforme au contrat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0" y="4892040"/>
            <a:ext cx="3703320" cy="822960"/>
          </a:xfrm>
          <a:prstGeom prst="roundRect">
            <a:avLst>
              <a:gd name="adj" fmla="val 5556"/>
            </a:avLst>
          </a:prstGeom>
          <a:solidFill>
            <a:srgbClr val="B23A3A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494690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OUVERT — rapport NON publié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ouvert, republication après correction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— PILOTAGE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SLI, SLO, data contracts et tiering de criticité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5239512"/>
              </a:tblGrid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Exemples monétiques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 (indicateur)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 objective de la qualité de service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Fraîcheur (h), % complétude, % doublons, % nulls, taux de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 (objectif)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chiffrée sur un SLI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Fraîcheur gold ≤ 6 h à 99,9 % du temps ; doublons ≤ 0,01 % ; complétude ≥ 99,5 % à J+2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(accord)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avec conséquences (escalade, astreinte)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Le rapport quotidien est publié à 07h00 avec complétude ≥ 99 %, sinon incident P2 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 producteur ↔ consommateur : schéma, sémantique, SLAs — validé automatiquement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 au Schema Registry sur auth.iso8583 ; contrat de livraison du fichier clearing (T+N, manifest)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Tiering de criticité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garanties suivent la criticité, pas l’inverse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0 (réglementaire, comptable) : breakers bloquants + astreinte • Tier 1 (pilotage) : alerte • Tier 2 (explo) : best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de maturité : la certification Midas (Airbnb) — spec écrite, validation d’historique, contrôles continus et 4 revues expertes avant qu’une donnée soit estampillée « certifiée ».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17320"/>
            <a:ext cx="2651760" cy="2651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B3A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1945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68580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sémantique &amp; reporting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KPI définis une seule fois, des rapports générés, contrôlés, signés et archivés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SÉMANTIQUE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KPI = une définition, servie partout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76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symptôme universel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a documenté une même métrique affichant 6,53 M dans un outil et 6,20 M dans un autre pour la même ville et la même période — jusqu’à 10–100 variantes SQL d’un même KPI dans l’entreprise.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des leaders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Minerva (~12 000 métriques déclaratives), Uber uMetric (définition → calcul batch + temps réel → qualité → consommation), LinkedIn Unified Metrics Platform.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producteur déclare le QUOI (formule, dimensions, filtres) ; la plateforme génère le COMMENT (pipelines, agrégats, backfills en cas de changement de définition).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Servie à tous les canaux —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BI, rapports réglementaires, APIs, expérimentation, agents IA — tous lisent la même définition : fin des batailles de chiffres entre directions.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1463040"/>
            <a:ext cx="4142232" cy="3017520"/>
          </a:xfrm>
          <a:prstGeom prst="roundRect">
            <a:avLst>
              <a:gd name="adj" fmla="val 1818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27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CERTIFIÉE (YAML)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1938528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metrique: taux_autorisation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formule: approuvees / demandes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gold.agg_auth_jour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dimensions: [reseau, canal,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emetteur, bin, mcc]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exclusions: reversals, stand-in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proprietaire: dir. monétique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certification: TIER-0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61772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97680"/>
                <a:gridCol w="41422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Positionnement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Pertinence monétique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Semantic Layer / MetricFlow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Métriques YAML à côté des modèles dbt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dbt est déjà le centre du stack de transformation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Couche open source, pré-agrégations + cache, APIs SQL/REST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Milliards de lignes servies à la BI et aux portails embarqués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AtScale / modèles tabulaires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Cube d’entreprise, MDX/DAX natif vers Excel et Power BI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Directions financières où Excel reste roi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SÉMANTIQUE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KPI monétiques et leurs ordres de grandeur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40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cross-border perd 5 à 15 points ; 60–70 % des refus « soft » sont récupérables (retry intelligent).</a:t>
            </a:r>
            <a:endParaRPr lang="en-US" sz="9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463040"/>
          <a:ext cx="4983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0175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fraude (valeur)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~0,002 % de la valeur (moy. EEA 2024) — suivi en bps ; ×17 hors zone SCA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litiges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&lt; 0,5–0,9 % (seuils programmes Visa / Mastercard)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GAB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courants 98–99,5 %, MTTR, pannes cash-out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Interchange 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Perçu / payé par produit × MCC — calculé au clearing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3DS / SCA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complétion du challenge, abandon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positifs fraude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« false declines » coûtent souvent plus que la fraude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↔ clearing ↔ règlement — le KPI de fiabilité du rapport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Générer un rapport périodique : le DAG de bout en bout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51760" cy="1444752"/>
          </a:xfrm>
          <a:prstGeom prst="roundRect">
            <a:avLst>
              <a:gd name="adj" fmla="val 316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72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8836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les marqueurs de complétude (partitions gold + clearing du cycle)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2066544"/>
            <a:ext cx="18288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3364992" y="1463040"/>
            <a:ext cx="2651760" cy="1444752"/>
          </a:xfrm>
          <a:prstGeom prst="roundRect">
            <a:avLst>
              <a:gd name="adj" fmla="val 316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572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Readiness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9584" y="18836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 ≥ seuil, volumes vs modèle, fraîcheur dans le SLA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066544"/>
            <a:ext cx="18288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7064" y="1463040"/>
            <a:ext cx="2651760" cy="1444752"/>
          </a:xfrm>
          <a:prstGeom prst="roundRect">
            <a:avLst>
              <a:gd name="adj" fmla="val 3165"/>
            </a:avLst>
          </a:prstGeom>
          <a:solidFill>
            <a:srgbClr val="2B3A7E"/>
          </a:solidFill>
          <a:ln/>
        </p:spPr>
      </p:sp>
      <p:sp>
        <p:nvSpPr>
          <p:cNvPr id="15" name="Text 13"/>
          <p:cNvSpPr/>
          <p:nvPr/>
        </p:nvSpPr>
        <p:spPr>
          <a:xfrm>
            <a:off x="6391656" y="1572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Réconciliation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91656" y="18836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ABC, matching trois voies, écarts = 0 ou expliqués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97112" y="2066544"/>
            <a:ext cx="18288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9089136" y="1463040"/>
            <a:ext cx="2651760" cy="1444752"/>
          </a:xfrm>
          <a:prstGeom prst="roundRect">
            <a:avLst>
              <a:gd name="adj" fmla="val 3165"/>
            </a:avLst>
          </a:prstGeom>
          <a:solidFill>
            <a:srgbClr val="2B3A7E"/>
          </a:solidFill>
          <a:ln/>
        </p:spPr>
      </p:sp>
      <p:sp>
        <p:nvSpPr>
          <p:cNvPr id="19" name="Text 17"/>
          <p:cNvSpPr/>
          <p:nvPr/>
        </p:nvSpPr>
        <p:spPr>
          <a:xfrm>
            <a:off x="9253728" y="1572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Matérialisation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53728" y="18836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 gold calculés, figés et versionnés (snapshot)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96144" y="2926080"/>
            <a:ext cx="237744" cy="146304"/>
          </a:xfrm>
          <a:prstGeom prst="downArrow">
            <a:avLst/>
          </a:prstGeom>
          <a:solidFill>
            <a:srgbClr val="D9A441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090672"/>
            <a:ext cx="2651760" cy="1444752"/>
          </a:xfrm>
          <a:prstGeom prst="roundRect">
            <a:avLst>
              <a:gd name="adj" fmla="val 3165"/>
            </a:avLst>
          </a:prstGeom>
          <a:solidFill>
            <a:srgbClr val="25708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Contrôles finaux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351129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 croisés vs comptabilité, circuit breaker DQ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3694176"/>
            <a:ext cx="18288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6" name="Shape 24"/>
          <p:cNvSpPr/>
          <p:nvPr/>
        </p:nvSpPr>
        <p:spPr>
          <a:xfrm>
            <a:off x="3364992" y="3090672"/>
            <a:ext cx="2651760" cy="1444752"/>
          </a:xfrm>
          <a:prstGeom prst="roundRect">
            <a:avLst>
              <a:gd name="adj" fmla="val 3165"/>
            </a:avLst>
          </a:prstGeom>
          <a:solidFill>
            <a:srgbClr val="25708A"/>
          </a:solidFill>
          <a:ln/>
        </p:spPr>
      </p:sp>
      <p:sp>
        <p:nvSpPr>
          <p:cNvPr id="27" name="Text 25"/>
          <p:cNvSpPr/>
          <p:nvPr/>
        </p:nvSpPr>
        <p:spPr>
          <a:xfrm>
            <a:off x="3529584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Rendu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9584" y="351129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Pixel-perfect (JasperReports / Power BI paginated) → PDF / XLSX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3694176"/>
            <a:ext cx="18288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30" name="Shape 28"/>
          <p:cNvSpPr/>
          <p:nvPr/>
        </p:nvSpPr>
        <p:spPr>
          <a:xfrm>
            <a:off x="6227064" y="3090672"/>
            <a:ext cx="2651760" cy="1444752"/>
          </a:xfrm>
          <a:prstGeom prst="roundRect">
            <a:avLst>
              <a:gd name="adj" fmla="val 3165"/>
            </a:avLst>
          </a:prstGeom>
          <a:solidFill>
            <a:srgbClr val="A97A1F"/>
          </a:solidFill>
          <a:ln/>
        </p:spPr>
      </p:sp>
      <p:sp>
        <p:nvSpPr>
          <p:cNvPr id="31" name="Text 29"/>
          <p:cNvSpPr/>
          <p:nvPr/>
        </p:nvSpPr>
        <p:spPr>
          <a:xfrm>
            <a:off x="6391656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Signature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91656" y="351129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SHA-256, horodatage RFC 3161, version des données + du code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97112" y="3694176"/>
            <a:ext cx="18288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34" name="Shape 32"/>
          <p:cNvSpPr/>
          <p:nvPr/>
        </p:nvSpPr>
        <p:spPr>
          <a:xfrm>
            <a:off x="9089136" y="3090672"/>
            <a:ext cx="2651760" cy="1444752"/>
          </a:xfrm>
          <a:prstGeom prst="roundRect">
            <a:avLst>
              <a:gd name="adj" fmla="val 3165"/>
            </a:avLst>
          </a:prstGeom>
          <a:solidFill>
            <a:srgbClr val="A97A1F"/>
          </a:solidFill>
          <a:ln/>
        </p:spPr>
      </p:sp>
      <p:sp>
        <p:nvSpPr>
          <p:cNvPr id="35" name="Text 33"/>
          <p:cNvSpPr/>
          <p:nvPr/>
        </p:nvSpPr>
        <p:spPr>
          <a:xfrm>
            <a:off x="9253728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Distribution &amp; archive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53728" y="351129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Portail, SFTP superviseur, email chiffré — archivage WORM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498348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asset-centric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(sensors déferrables, datasets) ou Dagster (software-defined assets, partitions, freshness policies, asset checks) — le rapport est un ASSET avec ses dépendances déclarées, pas un cron.</a:t>
            </a:r>
            <a:endParaRPr lang="en-US" sz="11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étape humaine dans le chemin nominal —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l’humain intervient sur exception (breaker ouvert, écart non expliqué), jamais pour « vérifier à la main » un chiffre nominal.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réglementaire : figé, signé, opposable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Pixel-perfect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JasperReports / Jaspersoft (bandes, sous-rapports, maquettes banque centrale) ou Power BI Paginated Reports (héritier SSRS) : PDF paginés conformes aux formats exigés, exports XLSX.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exclusivement certifiées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lit des tables or Tier 0, avec version de données (snapshot id), version de code (tag git) et run_id d’orchestration consignés dans le rapport lui-même.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Immutabilité WORM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PDF émis est écrit en Object Lock mode compliance : aucune suppression ni modification possible avant l’échéance, même par un administrateur.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probante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SHA-256 consigné, horodatage qualifié (RFC 3161 / eIDAS), signature ou cachet électronique — le rapport est opposable en cas de contrôle ou de litige interbancaire.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émissions —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généré quoi, quand, avec quelle version de données : la republication (restatement) crée une NOUVELLE version référencée, l’originale reste archivée.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463040"/>
            <a:ext cx="4142232" cy="4754880"/>
          </a:xfrm>
          <a:prstGeom prst="roundRect">
            <a:avLst>
              <a:gd name="adj" fmla="val 1325"/>
            </a:avLst>
          </a:prstGeom>
          <a:solidFill>
            <a:srgbClr val="EFF4FC"/>
          </a:solidFill>
          <a:ln w="12700">
            <a:solidFill>
              <a:srgbClr val="D4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642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CARTOUCHE D’UN RAPPORT ÉMIS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2011680"/>
            <a:ext cx="3703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 : Activité monétique — Juin 2026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: 2 (restatement du 12/07)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 au : 08/07/2026 06:12 UTC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Complétude : 99,97 %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 : iceberg #8842105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: reporting v3.14.2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: airflow 2026-07-08T05:00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: 4be1…9c07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Horodatage : TSA qualifiée 08/07 07:01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5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 : WORM — échéance 2036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calendrier de reporting monétique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069080"/>
                <a:gridCol w="2743200"/>
                <a:gridCol w="25877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Rythme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Fenêtre de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des chiffres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Quotidien (J+1, 07h)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activité &amp; supervision : volumes, taux d’autorisation, incidents, fraude détectée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complet (autorisations) + clearing reçu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PROVISOIRE — badge de complétude affiché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Hebdomadaire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Pilotage : tendances, exceptions de réconciliation, vieillissement des litiges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 avec fenêtre J-7 consolidée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Stabilisé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 (J+5 ouvré)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Comité monétique : décomptes officiels, interchange, disponibilité GAB, KPI certifiés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 M, clearing complet + réconciliation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OFFICIEL — versionné, restatement possible jusqu’à J+28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Déclarations réseaux : GOC (Visa), QMR (Mastercard) par BID / 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Trimestre civil, ventilations réseaux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FIGÉ — base de calcul des frais réseau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Fraude réglementaire (type PSD2 art. 96) : instrument × géographie × SCA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Semestre, définitions régulateur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FIGÉ — soumission autorité, archivé WORM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Statistiques banque centrale / GIE monétique, rapport d’activité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 civile consolidée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52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FIGÉ — hard close définitif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43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échéance a son DAG, ses gates de complétude propres et sa politique de restatement — le quotidien tolère le provisoire, le réglementaire exige le figé.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couche transversale qui rend le tout auditable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14500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7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Lignage de bout en bout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4088" y="2121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OpenLineage (Spark / Airflow / dbt) + DataHub / OpenMetadata / Atlas : prouver la traçabilité d’un chiffre réglementaire jusqu’aux fichiers sources — l’esprit de BCBS 239.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618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71450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12864" y="1600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masquage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19088" y="2121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/ Unity Catalog : filtrage par ligne (un analyste ne voit que sa région), masquage par colonne (PAN → ••••1234), politiques par tags propagées par le lignage.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02920" y="3749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000500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97864" y="3886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data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04088" y="4407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piliers (Monte Carlo) : fraîcheur, volume, schéma, distribution, lignage — détection d’anomalies ML, gestion d’incidents data comme des incidents de prod.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6217920" y="3749040"/>
            <a:ext cx="5486400" cy="21031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4DC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4000500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2864" y="388620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&amp; glossaire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19088" y="4407408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table or documentée : définition, propriétaire, tier de criticité, SLO, score de qualité affiché aux consommateurs (pattern Data Quality Score d’Airbnb).</a:t>
            </a:r>
            <a:endParaRPr lang="en-US" sz="1080" dirty="0"/>
          </a:p>
        </p:txBody>
      </p:sp>
      <p:sp>
        <p:nvSpPr>
          <p:cNvPr id="26" name="Text 20"/>
          <p:cNvSpPr/>
          <p:nvPr/>
        </p:nvSpPr>
        <p:spPr>
          <a:xfrm>
            <a:off x="502920" y="601675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: des domaines avec propriétaires (émission, acquisition, fraude, litiges, GAB) et une gouvernance fédérée outillée — le modèle data mesh de JPMorgan, applicable on-premise.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Dix pratiques qui font un rapport fiable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6424" y="141732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médaillon unique — temps réel et batch écrivent dans les mêmes tables ACID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21424" y="141732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FPE du PAN à l’ingestion — le lake hors périmètre PCI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06424" y="225856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par date d’ingestion, or par date d’événement — MERGE fenêtre J-7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04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21424" y="225856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incrémental partout — les transactions sont mutables et tardives par nature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45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6424" y="309981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 mesurée et publiée — marqueurs, seuils 99,x %, courbe de maturation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145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21424" y="309981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+ dédup + balances ABC — compté juste par construction ET vérifié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867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06424" y="394106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en versions annoncées — flash J+1, officiel J+2/7, figé J+28 (hard close)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9867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21424" y="394106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 — ne pas publier plutôt que publier faux ; affichage dégradé propre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828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06424" y="47823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sémantique certifiée — une définition par KPI, servie à tous les canaux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4828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21424" y="47823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hot → WORM aligné sur les fenêtres métier — rétention prouvable 10 ans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5715000"/>
            <a:ext cx="11183112" cy="658368"/>
          </a:xfrm>
          <a:prstGeom prst="roundRect">
            <a:avLst>
              <a:gd name="adj" fmla="val 6944"/>
            </a:avLst>
          </a:prstGeom>
          <a:solidFill>
            <a:srgbClr val="121A44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71500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d’or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fiable n’est pas « exact du premier coup » — c’est un rapport dont l’incertitude est bornée, mesurée et annoncée, et qui refuse de paraître quand ses garde-fous échouent.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01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principales de l’étude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8428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— </a:t>
            </a:r>
            <a:pPr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(Trino + Iceberg, Kafka exactly-once) ; PayPal Tech Blog (Scaling Kafka) ; Adyen (plateforme Spark on-premise) ; Cloudera × Mastercard (MATCH) ; Harvard D3 (Visa) ; DATAVERSITY (Amex) ; Fed de Philadelphie (clearing &amp; settlement) ; J.P. Morgan (ISO 20022).</a:t>
            </a:r>
            <a:endParaRPr lang="en-US" sz="1050" dirty="0"/>
          </a:p>
          <a:p>
            <a:pPr marL="152400" indent="-1524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data — </a:t>
            </a:r>
            <a:pPr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Engineering (Hudi, ETL incrémental, uMetric, Data Quality Platform) ; Netflix TechBlog (Iceberg, Maestro) ; Airbnb Engineering (Minerva, Midas, Data Quality Score) ; LinkedIn (Data Sentinel, UMP) ; Capital One (data lake zones) ; JPMorgan Chase (data mesh).</a:t>
            </a:r>
            <a:endParaRPr lang="en-US" sz="1050" dirty="0"/>
          </a:p>
          <a:p>
            <a:pPr marL="152400" indent="-1524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late events — </a:t>
            </a:r>
            <a:pPr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The Dataflow Model » (Akidau et al., VLDB 2015) ; Streaming 102 (O’Reilly) ; documentation Apache Flink (watermarks, allowed lateness, 2PC) ; Databricks (watermarks Structured Streaming) ; Confluent (exactly-once).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0" y="150876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fiabilité — </a:t>
            </a:r>
            <a:pPr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Deequ (Amazon Science) ; Great Expectations ; Soda ; dbt Labs (data SLAs) ; Monte Carlo (observabilité, circuit breakers) ; Bigeye (SLA data) ; DataHub (data contracts) ; brevet ABC T-Mobile ; XTDB (bitemporalité) ; Google Ads (data freshness, conversion lag) ; Openbridge (restatements Amazon Ads).</a:t>
            </a:r>
            <a:endParaRPr lang="en-US" sz="1050" dirty="0"/>
          </a:p>
          <a:p>
            <a:pPr marL="152400" indent="-1524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&amp; tiering — </a:t>
            </a:r>
            <a:pPr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(classes &amp; lifecycle) ; Apache Hadoop (archival storage, erasure coding) ; KIP-405 (Kafka tiered storage) ; ClickHouse &amp; Druid (tiering) ; Dremio / Databricks (optimisation Iceberg / Delta) ; Kimball Group (accumulating snapshot).</a:t>
            </a:r>
            <a:endParaRPr lang="en-US" sz="1050" dirty="0"/>
          </a:p>
          <a:p>
            <a:pPr marL="152400" indent="-1524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Réglementaire &amp; KPI — </a:t>
            </a:r>
            <a:pPr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050" dirty="0">
                <a:solidFill>
                  <a:srgbClr val="25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v4 (Req. 3 &amp; 10) ; rapports ECB / EBA sur la fraude aux paiements (2024-2025) ; Silverflow &amp; Kani (GOC / QMR) ; Gr4vy / IXOPAY / Primer (benchmarks KPI paiements) ; BCEAO / GIM-UEMOA ; SATIM (switch national).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51460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brutes opposables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 chiffres qui font foi.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43891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L’architecture proposée assemble les patterns éprouvés des leaders — lakehouse médaillon, ETL incrémental,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watermarks et readiness gates, réconciliation ABC, restatement versionné, couche sémantique certifiée —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 chaque décompte publié soit exact, traçable et daté.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Monétique — Architecture de référence • Juillet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Big Data Monétique — Architecture de référence</dc:title>
  <dc:subject>PptxGenJS Presentation</dc:subject>
  <dc:creator>Architecture Data</dc:creator>
  <cp:lastModifiedBy>Architecture Data</cp:lastModifiedBy>
  <cp:revision>1</cp:revision>
  <dcterms:created xsi:type="dcterms:W3CDTF">2026-07-26T00:20:18Z</dcterms:created>
  <dcterms:modified xsi:type="dcterms:W3CDTF">2026-07-26T00:20:18Z</dcterms:modified>
</cp:coreProperties>
</file>