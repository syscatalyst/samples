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 l'architecture fonctionnelle des familles d'exposition : comment les rapports EDD et RB sont déclenchés, contraints et livrés.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familles d'exposition servies par le socle de données, trois mécanismes transverses. Chaque famille est pilotée par des contraintes différentes.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référentiels métier : EDD états mail et RB rapports business. La nature du contenu — calculé ou brut — pilote la gestion des retards.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Extrait de l'inventaire EDD en cours de validation, regroupé par famille de besoins. Majoritairement des agrégats donc recalcul vN plus 1 en cas de tardif.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Extrait de l'inventaire RB. Majoritairement des extractions brutes donc candidats au mode delta. Points ouverts à trancher avant de figer le mapping et le référentiel SLA.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 : chemin synchrone sous 200 ms. On sert l'état connu à l'instant T, la fraîcheur est affichée jamais promise. Les tardifs se corrigent au fil de l'eau.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F2 : chaîne événementielle. Le rapport part quand le métier dit complet, jamais quand l'horloge sonne. Chien de garde si le signal n'arrive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F3 : l'horloge sonne que la donnée soit prête ou non. La garde C1 vérifie, la politique d'incomplétude choisie par le client décide : attendre, partiel marqué, ou bloquer.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F4 : pattern asynchrone 202 plus jobId. Aucun export volumineux synchrone, résultat opposable adossé à un snapshot figé.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session de remise porte une enveloppe avec taille annoncée et marqueur de fin : la complétude devient prouvable, le déclenchement des rapports devient sûr.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logicielle de l'extraction à la demande : API et DSL de requêtage, message Kafka, jobId immédiat, worker, dépôt COS, pull temps réel.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Séquence technique détaillée d'une extraction : de la soumission du DSL à la récupération du fichier, chaque étape horodatée dans le job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Dimensionnement et isolation du pool de workers d'extraction : partitions par classe, quotas Starburst, bornes de sécurité.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L'ingestion dépose sans corréler : lag minimal, contrat Avro à l'entrée. Un job permanent corrèle ensuite, priorisé par SLA métier.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registre des attendus prouve la complétude ; les tardifs corrigent le lac, jamais les rapports, qui sont versionnés et immuables.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stratégie de rectification dépend de la nature du contenu : données brutes = delta complémentaire, agrégats = recalcul complet et réémission vN plus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référentiel unique client par rapport pilote l'ordonnancement, l'horloge SLA et l'alerte avant violation. La mesure est l'accusé de livraison.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chaîne périodique complète avec le SLA client injecté à chaque étage. Un client PLATINIUM est prioritaire au calcul, à la génération et à la livraison.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classes suffisent : PLATINIUM, GOLD, SILVER. La classe est portée par la donnée dès l'ingestion via le routage topic-par-classe, et respectée jusqu'au serving. Pattern Class-of-Service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étage publie ses jalons horodatés avec la classe en dimension. On alerte avant violation et on pilote un error budget par classe, jamais partagé.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: quatre familles, trois transverses, trois classes de service. Prochaines étapes : valider les inventaires et figer le référentiel SLA.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918460"/>
            <a:ext cx="17183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85B8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SCHÉMA FONCTIONNEL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3556635"/>
            <a:ext cx="16089630" cy="1630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68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Familles d'exposition des rapports EDD &amp; RB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333500" y="5492115"/>
            <a:ext cx="1608963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250" dirty="0">
                <a:solidFill>
                  <a:srgbClr val="B3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Déclenchement, contraintes transverses et livraison — de l'ingestion au serving, piloté par les SLA métier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333500" y="6863715"/>
            <a:ext cx="2549843" cy="504825"/>
          </a:xfrm>
          <a:prstGeom prst="roundRect">
            <a:avLst>
              <a:gd name="adj" fmla="val 15094"/>
            </a:avLst>
          </a:prstGeom>
          <a:solidFill>
            <a:srgbClr val="DAE8FC"/>
          </a:solidFill>
          <a:ln/>
        </p:spPr>
      </p:sp>
      <p:sp>
        <p:nvSpPr>
          <p:cNvPr id="6" name="Text 4"/>
          <p:cNvSpPr/>
          <p:nvPr/>
        </p:nvSpPr>
        <p:spPr>
          <a:xfrm>
            <a:off x="1581150" y="6978015"/>
            <a:ext cx="21310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F1 · Accès à chaud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035743" y="6863715"/>
            <a:ext cx="3072765" cy="504825"/>
          </a:xfrm>
          <a:prstGeom prst="roundRect">
            <a:avLst>
              <a:gd name="adj" fmla="val 15094"/>
            </a:avLst>
          </a:prstGeom>
          <a:solidFill>
            <a:srgbClr val="D5E8D4"/>
          </a:solidFill>
          <a:ln/>
        </p:spPr>
      </p:sp>
      <p:sp>
        <p:nvSpPr>
          <p:cNvPr id="8" name="Text 6"/>
          <p:cNvSpPr/>
          <p:nvPr/>
        </p:nvSpPr>
        <p:spPr>
          <a:xfrm>
            <a:off x="4283393" y="6978015"/>
            <a:ext cx="26696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F2 · Déclencheur métier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260907" y="6863715"/>
            <a:ext cx="2131219" cy="504825"/>
          </a:xfrm>
          <a:prstGeom prst="roundRect">
            <a:avLst>
              <a:gd name="adj" fmla="val 15094"/>
            </a:avLst>
          </a:prstGeom>
          <a:solidFill>
            <a:srgbClr val="FFE6CC"/>
          </a:solidFill>
          <a:ln/>
        </p:spPr>
      </p:sp>
      <p:sp>
        <p:nvSpPr>
          <p:cNvPr id="10" name="Text 8"/>
          <p:cNvSpPr/>
          <p:nvPr/>
        </p:nvSpPr>
        <p:spPr>
          <a:xfrm>
            <a:off x="7508557" y="6978015"/>
            <a:ext cx="171211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F3 · Périodique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44526" y="6863715"/>
            <a:ext cx="3583623" cy="504825"/>
          </a:xfrm>
          <a:prstGeom prst="roundRect">
            <a:avLst>
              <a:gd name="adj" fmla="val 15094"/>
            </a:avLst>
          </a:prstGeom>
          <a:solidFill>
            <a:srgbClr val="E1D5E7"/>
          </a:solidFill>
          <a:ln/>
        </p:spPr>
      </p:sp>
      <p:sp>
        <p:nvSpPr>
          <p:cNvPr id="12" name="Text 10"/>
          <p:cNvSpPr/>
          <p:nvPr/>
        </p:nvSpPr>
        <p:spPr>
          <a:xfrm>
            <a:off x="9792176" y="6978015"/>
            <a:ext cx="31958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F4 · Extraction à la demande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Familles d'exposition — vue fonctionnelle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6750" y="1114425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CORRECT = sémantique unique · COMPLET = readiness prouvée (C1) · PROBANT = run immuable versionné (C2) · À L'HEURE = SLA piloté (C3)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66750" y="1609725"/>
            <a:ext cx="16954500" cy="971550"/>
          </a:xfrm>
          <a:prstGeom prst="roundRect">
            <a:avLst>
              <a:gd name="adj" fmla="val 9804"/>
            </a:avLst>
          </a:prstGeom>
          <a:solidFill>
            <a:srgbClr val="F4F5F7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5350" y="1866900"/>
            <a:ext cx="1123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SOCLE DE DONNÉES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76450" y="1781175"/>
            <a:ext cx="2601436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7A86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19325" y="1885950"/>
            <a:ext cx="239372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Kafka </a:t>
            </a:r>
            <a:pPr algn="l" indent="0" marL="0"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flux haute fréquence sous contrat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92186" y="1781175"/>
            <a:ext cx="3295967" cy="628650"/>
          </a:xfrm>
          <a:prstGeom prst="roundRect">
            <a:avLst>
              <a:gd name="adj" fmla="val 12121"/>
            </a:avLst>
          </a:prstGeom>
          <a:solidFill>
            <a:srgbClr val="DEEBFF"/>
          </a:solidFill>
          <a:ln w="9525">
            <a:solidFill>
              <a:srgbClr val="0747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5061" y="1885950"/>
            <a:ext cx="31090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MongoDB organisé </a:t>
            </a:r>
            <a:pPr algn="l" indent="0" marL="0"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état courant corrélé (chaud, 2 ans)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02454" y="1781175"/>
            <a:ext cx="3759041" cy="628650"/>
          </a:xfrm>
          <a:prstGeom prst="roundRect">
            <a:avLst>
              <a:gd name="adj" fmla="val 12121"/>
            </a:avLst>
          </a:prstGeom>
          <a:solidFill>
            <a:srgbClr val="E3FCEF"/>
          </a:solidFill>
          <a:ln w="9525">
            <a:solidFill>
              <a:srgbClr val="0066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5329" y="1885950"/>
            <a:ext cx="358606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Gold marts Iceberg </a:t>
            </a:r>
            <a:pPr algn="l" indent="0" marL="0"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publiés WAP, semantic layer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075795" y="1781175"/>
            <a:ext cx="2601277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7A8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18670" y="1885950"/>
            <a:ext cx="239356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Raw Iceberg </a:t>
            </a:r>
            <a:pPr algn="l" indent="0" marL="0"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10 ans, rejeu &amp; backfill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4791373" y="1781175"/>
            <a:ext cx="2601278" cy="628650"/>
          </a:xfrm>
          <a:prstGeom prst="roundRect">
            <a:avLst>
              <a:gd name="adj" fmla="val 12121"/>
            </a:avLst>
          </a:prstGeom>
          <a:solidFill>
            <a:srgbClr val="EAE6FF"/>
          </a:solidFill>
          <a:ln w="9525">
            <a:solidFill>
              <a:srgbClr val="4032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934248" y="1885950"/>
            <a:ext cx="239356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Starburst </a:t>
            </a:r>
            <a:pPr algn="l" indent="0" marL="0"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fédération, requêtes lourdes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6750" y="2809875"/>
            <a:ext cx="4110038" cy="5067300"/>
          </a:xfrm>
          <a:prstGeom prst="roundRect">
            <a:avLst>
              <a:gd name="adj" fmla="val 2317"/>
            </a:avLst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6300" y="3019425"/>
            <a:ext cx="40600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F1 — Accès à chaud (API)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876300" y="3381375"/>
            <a:ext cx="3801666" cy="1075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Déclencheur :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pull client, à tout instant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 :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MongoDB organisé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Garantie :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l'état connu à l'instant T — fraîcheur </a:t>
            </a:r>
            <a:pPr algn="l" indent="0" marL="0">
              <a:lnSpc>
                <a:spcPct val="115652"/>
              </a:lnSpc>
              <a:buNone/>
            </a:pPr>
            <a:r>
              <a:rPr lang="en-US" sz="1425" i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affichée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jamais promise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876300" y="4513897"/>
            <a:ext cx="3690937" cy="950595"/>
          </a:xfrm>
          <a:prstGeom prst="roundRect">
            <a:avLst>
              <a:gd name="adj" fmla="val 8016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4609147"/>
            <a:ext cx="3573066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Latence &lt; 200 ms p99 · dispo 99,9 % · tenant injecté · bornes strictes · gros volumes → F4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4948238" y="2809875"/>
            <a:ext cx="4110038" cy="5067300"/>
          </a:xfrm>
          <a:prstGeom prst="roundRect">
            <a:avLst>
              <a:gd name="adj" fmla="val 2317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57788" y="3019425"/>
            <a:ext cx="40600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F2 — Déclencheur métier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5157788" y="3381375"/>
            <a:ext cx="3801666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Déclencheur :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événement de complétude (dernière session, clôture, fichier)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 :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gold publié (WAP)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Garantie :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correct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et complet par construction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5157788" y="4743450"/>
            <a:ext cx="3690937" cy="950595"/>
          </a:xfrm>
          <a:prstGeom prst="roundRect">
            <a:avLst>
              <a:gd name="adj" fmla="val 8016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272088" y="4838700"/>
            <a:ext cx="3573066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C1 obligatoire avant génération · SLA relatif « ≤ X min après l'événement » · pas de dégradé silencieux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9229725" y="2809875"/>
            <a:ext cx="4110038" cy="5067300"/>
          </a:xfrm>
          <a:prstGeom prst="roundRect">
            <a:avLst>
              <a:gd name="adj" fmla="val 2317"/>
            </a:avLst>
          </a:prstGeom>
          <a:solidFill>
            <a:srgbClr val="FFE6CC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39275" y="3019425"/>
            <a:ext cx="40600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F3 — Périodique (horloge)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9439275" y="3381375"/>
            <a:ext cx="3801666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Déclencheur :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planification fixe (quotidien, hebdo, mensuel)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 :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gold publié (WAP)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Garantie :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ponctualité — complétude vérifiée par la garde C1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9439275" y="4743450"/>
            <a:ext cx="3690937" cy="697230"/>
          </a:xfrm>
          <a:prstGeom prst="roundRect">
            <a:avLst>
              <a:gd name="adj" fmla="val 10929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553575" y="4838700"/>
            <a:ext cx="3573066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Deliver-by ferme · politique d'incomplétude par client (a/b/c) · alerte avant violation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13511213" y="2809875"/>
            <a:ext cx="4110038" cy="5067300"/>
          </a:xfrm>
          <a:prstGeom prst="roundRect">
            <a:avLst>
              <a:gd name="adj" fmla="val 2317"/>
            </a:avLst>
          </a:prstGeom>
          <a:solidFill>
            <a:srgbClr val="E1D5E7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20763" y="3019425"/>
            <a:ext cx="40600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F4 — Extraction à la demande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13720763" y="3381375"/>
            <a:ext cx="3801666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Déclencheur :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demande ponctuelle, paramètres libres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 :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Gold/Silver via Starburst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Garantie :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asynchrone 202 + jobId, snapshot figé opposable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13720763" y="4743450"/>
            <a:ext cx="3690937" cy="950595"/>
          </a:xfrm>
          <a:prstGeom prst="roundRect">
            <a:avLst>
              <a:gd name="adj" fmla="val 8016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3835063" y="4838700"/>
            <a:ext cx="3573066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Bornes volumétrie · quotas &amp; fair-share tenant · traçabilité audit/RGPD · TTL fichiers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666750" y="8105775"/>
            <a:ext cx="16954500" cy="485775"/>
          </a:xfrm>
          <a:prstGeom prst="roundRect">
            <a:avLst>
              <a:gd name="adj" fmla="val 15686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7250" y="8239125"/>
            <a:ext cx="170821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C1 — READINESS &amp; COMPLÉTUDE </a:t>
            </a:r>
            <a:pPr algn="l" indent="0" marL="0"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registre des attendus vs reçus → watermark par (périmètre × jour). Déclenche F2, garde F3.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666750" y="8686800"/>
            <a:ext cx="16954500" cy="485775"/>
          </a:xfrm>
          <a:prstGeom prst="roundRect">
            <a:avLst>
              <a:gd name="adj" fmla="val 15686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7250" y="8820150"/>
            <a:ext cx="170821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 — TARDIFS &amp; CORRECTIONS </a:t>
            </a:r>
            <a:pPr algn="l" indent="0" marL="0"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le tardif corrige le gold → re-run versionné vN+1 immuable. Un rapport émis n'est jamais modifié.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666750" y="9267825"/>
            <a:ext cx="16954500" cy="485775"/>
          </a:xfrm>
          <a:prstGeom prst="roundRect">
            <a:avLst>
              <a:gd name="adj" fmla="val 15686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7250" y="9401175"/>
            <a:ext cx="170821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 — SLA MÉTIER PAR CLIENT </a:t>
            </a:r>
            <a:pPr algn="l" indent="0" marL="0"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référentiel (client × rapport) : classe, deliver-by, canal, politiques. Mesure = accusé de livraison.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Contexte métier — familles de rapports &amp; catégories de données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6750" y="1114425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Deux référentiels exprimés par le métier, organisés par besoin et par nature de données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66750" y="1628775"/>
            <a:ext cx="8391525" cy="1247775"/>
          </a:xfrm>
          <a:prstGeom prst="roundRect">
            <a:avLst>
              <a:gd name="adj" fmla="val 7634"/>
            </a:avLst>
          </a:prstGeom>
          <a:solidFill>
            <a:srgbClr val="DEEB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6300" y="1838325"/>
            <a:ext cx="822417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EDD — États mail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(001…694) Diffusés par mail/abonnement, 1 à ~18 destinataires par état. Attributs : périmètre de données, famille de besoins, clients concernés, statut de planification.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229725" y="1628775"/>
            <a:ext cx="8391525" cy="1247775"/>
          </a:xfrm>
          <a:prstGeom prst="roundRect">
            <a:avLst>
              <a:gd name="adj" fmla="val 7634"/>
            </a:avLst>
          </a:prstGeom>
          <a:solidFill>
            <a:srgbClr val="DEEB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9275" y="1838325"/>
            <a:ext cx="822417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 — Rapports business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(RB001…RB589) Fichiers produits / récupérés par abonnement. Attributs : périmètre fonctionnel, statut, lot, abonnement, récupération, priorité P1 go-live / P2.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6750" y="3124200"/>
            <a:ext cx="3284220" cy="1062990"/>
          </a:xfrm>
          <a:prstGeom prst="roundRect">
            <a:avLst>
              <a:gd name="adj" fmla="val 8961"/>
            </a:avLst>
          </a:prstGeom>
          <a:solidFill>
            <a:srgbClr val="E3FCEF"/>
          </a:solidFill>
          <a:ln w="19050">
            <a:solidFill>
              <a:srgbClr val="0066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3295650"/>
            <a:ext cx="303984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Suivi d'activité &amp; CA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Activité synthétique, CA par pays / tranche / réseau, VAD, synthèses SCA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084320" y="3124200"/>
            <a:ext cx="3284220" cy="1062990"/>
          </a:xfrm>
          <a:prstGeom prst="roundRect">
            <a:avLst>
              <a:gd name="adj" fmla="val 8961"/>
            </a:avLst>
          </a:prstGeom>
          <a:solidFill>
            <a:srgbClr val="FFE6CC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5770" y="3295650"/>
            <a:ext cx="303984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Impayés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E6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Détail par porteur, globaux par réseau, gestion du risque, alertes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01890" y="3124200"/>
            <a:ext cx="3284220" cy="1062990"/>
          </a:xfrm>
          <a:prstGeom prst="roundRect">
            <a:avLst>
              <a:gd name="adj" fmla="val 8961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73340" y="3295650"/>
            <a:ext cx="303984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Fraude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Globale (taux IFF), par réseau, par motif d'opposition, détaillée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919460" y="3124200"/>
            <a:ext cx="3284220" cy="1062990"/>
          </a:xfrm>
          <a:prstGeom prst="roundRect">
            <a:avLst>
              <a:gd name="adj" fmla="val 8961"/>
            </a:avLst>
          </a:prstGeom>
          <a:solidFill>
            <a:srgbClr val="EAE6FF"/>
          </a:solidFill>
          <a:ln w="19050">
            <a:solidFill>
              <a:srgbClr val="4032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90910" y="3295650"/>
            <a:ext cx="303984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Autorisations &amp; capture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Détail autorisations, télécollectes, incidents → annonces de trésorerie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4337030" y="3124200"/>
            <a:ext cx="3284220" cy="1062990"/>
          </a:xfrm>
          <a:prstGeom prst="roundRect">
            <a:avLst>
              <a:gd name="adj" fmla="val 8961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08480" y="3295650"/>
            <a:ext cx="303984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Précomp. &amp; référentiels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Décomptes par transaction, commissions, listes d'opposition, BIN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6750" y="4434840"/>
            <a:ext cx="8391525" cy="4537710"/>
          </a:xfrm>
          <a:prstGeom prst="roundRect">
            <a:avLst>
              <a:gd name="adj" fmla="val 2099"/>
            </a:avLst>
          </a:prstGeom>
          <a:solidFill>
            <a:srgbClr val="E3FCEF"/>
          </a:solidFill>
          <a:ln w="19050">
            <a:solidFill>
              <a:srgbClr val="0066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5350" y="4663440"/>
            <a:ext cx="8186071" cy="411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DONNÉES CALCULÉES — compteurs / agrégats / KPIs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Agrégats par dimensions : scheme, région, réseau, pays, tranche de montant, devise, contrat… </a:t>
            </a:r>
            <a:pPr algn="l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ex. CA par pays, fraude par réseau, taux IFF, synthèses SCA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229725" y="4434840"/>
            <a:ext cx="8391525" cy="4537710"/>
          </a:xfrm>
          <a:prstGeom prst="roundRect">
            <a:avLst>
              <a:gd name="adj" fmla="val 2099"/>
            </a:avLst>
          </a:prstGeom>
          <a:solidFill>
            <a:srgbClr val="DEEB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58325" y="4663440"/>
            <a:ext cx="8186071" cy="411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DONNÉES BRUTES EXTRAITES — sans calcul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Détail enregistrement par enregistrement : autorisations, décomptes par transaction, listes nominatives, fichiers BIN. </a:t>
            </a:r>
            <a:pPr algn="l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Chaque ligne = un fait ; la clé d'identité permet le différentiel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6750" y="922020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6300" y="9372600"/>
            <a:ext cx="170440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Croisement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une famille mélange souvent les deux natures : c'est la </a:t>
            </a:r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nature du contenu de chaque rapport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, pas sa famille, qui pilote la stratégie de rectification des retards.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Besoins métier — inventaire des EDD (états mail)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6750" y="1114425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Extrait en cours de validation métier · diffusion mail/abonnement, 1 à ~18 destinataires par état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66750" y="1609725"/>
            <a:ext cx="8401050" cy="3443288"/>
          </a:xfrm>
          <a:prstGeom prst="roundRect">
            <a:avLst>
              <a:gd name="adj" fmla="val 2766"/>
            </a:avLst>
          </a:prstGeom>
          <a:solidFill>
            <a:srgbClr val="E3FCEF"/>
          </a:solidFill>
          <a:ln w="19050">
            <a:solidFill>
              <a:srgbClr val="0066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50" y="1800225"/>
            <a:ext cx="8272082" cy="3100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57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SUIVI DE L'ACTIVITÉ &amp; CA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001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activité synthétique FR &amp; étranger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002/201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CA synthétique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003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Tx autorisées/forcées/rejetées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011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%IFF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203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CA par pays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204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par tranche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205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par réseau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233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par tranche et réseau/zone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234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FR par BIN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215/315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remises &amp; factures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222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doubles transactions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220200" y="1609725"/>
            <a:ext cx="8401050" cy="3443288"/>
          </a:xfrm>
          <a:prstGeom prst="roundRect">
            <a:avLst>
              <a:gd name="adj" fmla="val 2766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0700" y="1800225"/>
            <a:ext cx="8272082" cy="3100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57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IMPAYÉS &amp; FRAUDE — surveillance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009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fraude globale, taux IFF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010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fraude &amp; impayés par porteur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012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avant/après opposition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207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par réseau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208/228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par motif d'opposition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209/229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détaillée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231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par contrat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210/220/230/240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impayés par porteur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212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globaux par réseau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250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détail quotidien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251/252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risque IFF/impayés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257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alertes 7j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6750" y="5205413"/>
            <a:ext cx="8401050" cy="3443288"/>
          </a:xfrm>
          <a:prstGeom prst="roundRect">
            <a:avLst>
              <a:gd name="adj" fmla="val 2766"/>
            </a:avLst>
          </a:prstGeom>
          <a:solidFill>
            <a:srgbClr val="EAE6FF"/>
          </a:solidFill>
          <a:ln w="19050">
            <a:solidFill>
              <a:srgbClr val="4032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" y="5395912"/>
            <a:ext cx="8272082" cy="3100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57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TRÉSORERIE, JUSTIFICATIFS &amp; VAD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014/213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télécollectes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015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télétransmissions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017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incidents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211/221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demandes de justificatifs (jusqu'à 18 destinataires)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253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justificatifs par réseau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005/006/007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activité VAD (détaillée, trimestrielle, annuelle)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220200" y="5205413"/>
            <a:ext cx="8401050" cy="3443288"/>
          </a:xfrm>
          <a:prstGeom prst="roundRect">
            <a:avLst>
              <a:gd name="adj" fmla="val 2766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0700" y="5395912"/>
            <a:ext cx="8272082" cy="3100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57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PRÉCOMPENSATION &amp; PÉRIMÈTRE SCA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500/510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relevé commissions carte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621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SCA rejets précomp. par motif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631/632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SCA risque IFF / détail fraude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641/651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SCA risque impayés / DDJ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652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SCA justificatifs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691/692/694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SCA synthèses remise &amp; activité monétique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6750" y="8877300"/>
            <a:ext cx="16954500" cy="876300"/>
          </a:xfrm>
          <a:prstGeom prst="roundRect">
            <a:avLst>
              <a:gd name="adj" fmla="val 8696"/>
            </a:avLst>
          </a:prstGeom>
          <a:solidFill>
            <a:srgbClr val="F4F5F7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300" y="9048750"/>
            <a:ext cx="1704403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Lecture </a:t>
            </a:r>
            <a:pPr algn="l" indent="0" marL="0">
              <a:lnSpc>
                <a:spcPct val="116667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4F5F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les EDD sont majoritairement des </a:t>
            </a:r>
            <a:pPr algn="l" indent="0" marL="0">
              <a:lnSpc>
                <a:spcPct val="116667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compteurs / agrégats par dimensions </a:t>
            </a:r>
            <a:pPr algn="l" indent="0" marL="0">
              <a:lnSpc>
                <a:spcPct val="116667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4F5F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→ tardif = </a:t>
            </a:r>
            <a:pPr algn="l" indent="0" marL="0">
              <a:lnSpc>
                <a:spcPct val="116667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recalcul + réémission vN+1</a:t>
            </a:r>
            <a:pPr algn="l" indent="0" marL="0">
              <a:lnSpc>
                <a:spcPct val="116667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4F5F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. Les états « détail par porteur » sont des extractions brutes → </a:t>
            </a:r>
            <a:pPr algn="l" indent="0" marL="0">
              <a:lnSpc>
                <a:spcPct val="116667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delta </a:t>
            </a:r>
            <a:pPr algn="l" indent="0" marL="0">
              <a:lnSpc>
                <a:spcPct val="116667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4F5F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possible.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Besoins métier — inventaire des RB (rapports business)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6750" y="1114425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Fichiers produits / récupérés par abonnement · priorités P1 go-live · P2 post go-live (SCA / TOTAL / PAYPAL)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66750" y="1609725"/>
            <a:ext cx="5549900" cy="6747034"/>
          </a:xfrm>
          <a:prstGeom prst="roundRect">
            <a:avLst>
              <a:gd name="adj" fmla="val 1716"/>
            </a:avLst>
          </a:prstGeom>
          <a:solidFill>
            <a:srgbClr val="DEEB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50" y="1800225"/>
            <a:ext cx="5335397" cy="6404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57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ACQUISITION, DÉCOMPTES &amp; PRÉCOMP.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RB001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CR acquisition fichier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RB101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AR + rejets d'acquisition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CRR ESTREEM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AR direct émetteur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RB089/090/091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décomptes Tx monétiques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RB189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décompte détaillé MIF &amp; EXO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RB389/489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MIF et DSP2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RB143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rejets pré-comp.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RB099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FR Retailers CSV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IA689…791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décomptes commerçant CB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RP144/RP094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69050" y="1609725"/>
            <a:ext cx="5549900" cy="6747034"/>
          </a:xfrm>
          <a:prstGeom prst="roundRect">
            <a:avLst>
              <a:gd name="adj" fmla="val 1716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59550" y="1800225"/>
            <a:ext cx="5335397" cy="6404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57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IMPAYÉS &amp; FRAUDE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RB114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impayés CB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RB115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CB + internationaux SCA par scheme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RB289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spécifique TOTAL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RB415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MID générique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RB117/118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fraude LCLF détail / récap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RB417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LCLF MID générique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RB042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SCA relevé fraude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RB002/402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demandes de justificatifs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2071350" y="1609725"/>
            <a:ext cx="5549900" cy="6747034"/>
          </a:xfrm>
          <a:prstGeom prst="roundRect">
            <a:avLst>
              <a:gd name="adj" fmla="val 1716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61850" y="1800225"/>
            <a:ext cx="5335397" cy="6404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57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RÉFÉRENTIELS, OPPOSITIONS &amp; SUIVI SCA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RB004/005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listes opposition 30k/120k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RB006/007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mises à jour (déjà des deltas !)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RB046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opposition scorée SCA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RB008/047/048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BIN établissement / Europe / Monde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RB108/120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listes BIN CB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RB589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WERO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RB023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SCA stat client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RB034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commissions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RB041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SCA suivi d'activité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RB043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SCA rejet précomp.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6750" y="8585359"/>
            <a:ext cx="8401050" cy="1168241"/>
          </a:xfrm>
          <a:prstGeom prst="roundRect">
            <a:avLst>
              <a:gd name="adj" fmla="val 8153"/>
            </a:avLst>
          </a:prstGeom>
          <a:solidFill>
            <a:srgbClr val="FDF0E1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50" y="8775859"/>
            <a:ext cx="8272082" cy="825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Points ouverts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DF0E1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fréquences à préciser · doublons à arbitrer (RB101, RB108 vs listes BIN) · états à abandonner ou repris dans VISION · services IA/RP/RO à positionner · « à conserver » et P1/P2 à figer — </a:t>
            </a:r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avant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DF0E1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de figer le mapping session → rapports et le référentiel C3.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9220200" y="8585359"/>
            <a:ext cx="8401050" cy="1168241"/>
          </a:xfrm>
          <a:prstGeom prst="roundRect">
            <a:avLst>
              <a:gd name="adj" fmla="val 8153"/>
            </a:avLst>
          </a:prstGeom>
          <a:solidFill>
            <a:srgbClr val="F4F5F7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0700" y="8775859"/>
            <a:ext cx="8272082" cy="825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Lecture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4F5F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les RB sont majoritairement des </a:t>
            </a:r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données brutes extraites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4F5F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(listes, décomptes, référentiels) → rectification par </a:t>
            </a:r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DELTA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4F5F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; les synthèses (RB118, RB023) relèvent du </a:t>
            </a:r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recalcul vN+1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4F5F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6C8EB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F1 — ACCÈS À CHAUD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Chemin synchrone requête → réponse &lt; 200 ms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sert l'état connu à l'instant T — la fraîcheur est affichée, jamais promise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81200"/>
            <a:ext cx="2647315" cy="1647825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250" y="2171700"/>
            <a:ext cx="2345735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CONSOMMATEUR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Portail / SI client — pull à tout instant, imprévisible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409315" y="1981200"/>
            <a:ext cx="361950" cy="168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790315" y="1981200"/>
            <a:ext cx="3100546" cy="1647825"/>
          </a:xfrm>
          <a:prstGeom prst="roundRect">
            <a:avLst>
              <a:gd name="adj" fmla="val 5780"/>
            </a:avLst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80815" y="2171700"/>
            <a:ext cx="2812563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GATEWAY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AE8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OAuth2 / mTLS · résolution tenant → périmètre contractuel · rate limiting &amp; quotas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986111" y="1981200"/>
            <a:ext cx="361950" cy="168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7367111" y="1981200"/>
            <a:ext cx="3553778" cy="1647825"/>
          </a:xfrm>
          <a:prstGeom prst="roundRect">
            <a:avLst>
              <a:gd name="adj" fmla="val 5780"/>
            </a:avLst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57611" y="2171700"/>
            <a:ext cx="3279391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 D'EXPOSITION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AE8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Bornes : pagination, profondeur · filtre tenant injecté — jamais fourni par l'appelant · requêtes indexées uniquement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1016139" y="1981200"/>
            <a:ext cx="361950" cy="168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1397139" y="1981200"/>
            <a:ext cx="3100546" cy="1647825"/>
          </a:xfrm>
          <a:prstGeom prst="roundRect">
            <a:avLst>
              <a:gd name="adj" fmla="val 5780"/>
            </a:avLst>
          </a:prstGeom>
          <a:solidFill>
            <a:srgbClr val="DEEB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87639" y="2171700"/>
            <a:ext cx="2812563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MongoDB ORGANISÉ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 composés (tenant, business_date, statut) · réplicas lecture · rétention 2 ans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4592935" y="1981200"/>
            <a:ext cx="361950" cy="168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4973935" y="1981200"/>
            <a:ext cx="2647315" cy="1647825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164435" y="2171700"/>
            <a:ext cx="2345735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RÉPONSE ENRICHIE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+ méta fraîcheur : lastBatchSession, computed_at, watermark C1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666750" y="3876675"/>
            <a:ext cx="8401050" cy="933450"/>
          </a:xfrm>
          <a:prstGeom prst="roundRect">
            <a:avLst>
              <a:gd name="adj" fmla="val 10204"/>
            </a:avLst>
          </a:prstGeom>
          <a:solidFill>
            <a:srgbClr val="EBF2FB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250" y="4067175"/>
            <a:ext cx="827208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Garde volumétrie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EBF2FB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requête hors bornes (période trop large, export massif) → HTTP 413 + renvoi vers </a:t>
            </a:r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F4 extraction asynchrone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EBF2FB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. La base chaude n'exécute jamais de scan lourd.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220200" y="3876675"/>
            <a:ext cx="8401050" cy="933450"/>
          </a:xfrm>
          <a:prstGeom prst="roundRect">
            <a:avLst>
              <a:gd name="adj" fmla="val 10204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0700" y="4067175"/>
            <a:ext cx="827208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Méta fraîcheur — lien C1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le service lit le registre de complétude : dernière session intégrée, computed_at. La limite de complétude est </a:t>
            </a:r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visible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dans chaque réponse.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66750" y="5057775"/>
            <a:ext cx="16954500" cy="523875"/>
          </a:xfrm>
          <a:prstGeom prst="roundRect">
            <a:avLst>
              <a:gd name="adj" fmla="val 14545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7250" y="5210175"/>
            <a:ext cx="170821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SLO techniques </a:t>
            </a:r>
            <a:pPr algn="l" indent="0" marL="0"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p99 &lt; 200 ms · dispo 99,9 % · timeout budget par étage · circuit breaker · cache TTL court (30–60 s) possible : la fraîcheur affichée le rend honnête.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666750" y="5676900"/>
            <a:ext cx="16954500" cy="523875"/>
          </a:xfrm>
          <a:prstGeom prst="roundRect">
            <a:avLst>
              <a:gd name="adj" fmla="val 14545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7250" y="5829300"/>
            <a:ext cx="170821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Tardifs (C2) en F1 </a:t>
            </a:r>
            <a:pPr algn="l" indent="0" marL="0"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pas de versionnage : l'état servi est corrigé </a:t>
            </a:r>
            <a:pPr algn="l" indent="0" marL="0"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 fil de l'eau </a:t>
            </a:r>
            <a:pPr algn="l" indent="0" marL="0"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par upsert idempotent. Un tardif intégré est immédiatement visible.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666750" y="6296025"/>
            <a:ext cx="16954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7250" y="6448425"/>
            <a:ext cx="170821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Interdits </a:t>
            </a:r>
            <a:pPr algn="l" indent="0" marL="0"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pas de promesse de complétude · pas d'agrégation lourde synchrone · pas de jointure cross-source (→ F4) · pas de filtre de périmètre côté appelant.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82B3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F2 — DÉCLENCHEUR MÉTIER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 rapport part quand le métier dit « complet 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Chaîne événementielle — jamais quand l'horloge sonne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81200"/>
            <a:ext cx="2887663" cy="135636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2152650"/>
            <a:ext cx="2631393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PRODUCTEURS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Sessions batch 1..9, fichiers, clôtures — sous contrat (attendus + horaires)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630613" y="198120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992563" y="1981200"/>
            <a:ext cx="2887821" cy="135636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4013" y="2152650"/>
            <a:ext cx="2631556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KAFKA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Événements de données + événements de flux (fin de session, fin de fichier)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956584" y="198120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7318534" y="1981200"/>
            <a:ext cx="3142139" cy="1356360"/>
          </a:xfrm>
          <a:prstGeom prst="roundRect">
            <a:avLst>
              <a:gd name="adj" fmla="val 7022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89984" y="2152650"/>
            <a:ext cx="2893503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C1 — REGISTRE DES ATTENDUS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MAJ attendu/reçu par (périmètre × jour) → watermark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0536873" y="198120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898823" y="1981200"/>
            <a:ext cx="3142139" cy="1356360"/>
          </a:xfrm>
          <a:prstGeom prst="roundRect">
            <a:avLst>
              <a:gd name="adj" fmla="val 7022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70273" y="2152650"/>
            <a:ext cx="2893503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SIGNAL DE COMPLÉTUDE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« P × J COMPLET » publié sur le bus — après publication WAP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4117162" y="198120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4479112" y="1981200"/>
            <a:ext cx="3142139" cy="1356360"/>
          </a:xfrm>
          <a:prstGeom prst="roundRect">
            <a:avLst>
              <a:gd name="adj" fmla="val 7022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50562" y="2152650"/>
            <a:ext cx="2893503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ORCHESTRATEUR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Abonné aux signaux · démarre le run · idempotent (run_id)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666750" y="3585210"/>
            <a:ext cx="3910013" cy="1102995"/>
          </a:xfrm>
          <a:prstGeom prst="roundRect">
            <a:avLst>
              <a:gd name="adj" fmla="val 8636"/>
            </a:avLst>
          </a:prstGeom>
          <a:solidFill>
            <a:srgbClr val="FFFFFF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200" y="3756660"/>
            <a:ext cx="3684413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GÉNÉRATION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Lit le gold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publié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(WAP) · fige le snapshot_id Iceberg (opposabilité)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4652962" y="3585210"/>
            <a:ext cx="361950" cy="1141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5014913" y="3585210"/>
            <a:ext cx="3910013" cy="1102995"/>
          </a:xfrm>
          <a:prstGeom prst="roundRect">
            <a:avLst>
              <a:gd name="adj" fmla="val 8636"/>
            </a:avLst>
          </a:prstGeom>
          <a:solidFill>
            <a:srgbClr val="FFFFFF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6363" y="3756660"/>
            <a:ext cx="3684413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RENDU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CSV / PDF / Parquet — (report_id, client, business_date, v1)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001125" y="3585210"/>
            <a:ext cx="361950" cy="1141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363075" y="3585210"/>
            <a:ext cx="3910013" cy="1102995"/>
          </a:xfrm>
          <a:prstGeom prst="roundRect">
            <a:avLst>
              <a:gd name="adj" fmla="val 8636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34525" y="3756660"/>
            <a:ext cx="3684413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LIVRAISON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Canal du référentiel C3 : SFTP / API pull / portail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3349288" y="3585210"/>
            <a:ext cx="361950" cy="1141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3711238" y="3585210"/>
            <a:ext cx="3910013" cy="1102995"/>
          </a:xfrm>
          <a:prstGeom prst="roundRect">
            <a:avLst>
              <a:gd name="adj" fmla="val 8636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882688" y="3756660"/>
            <a:ext cx="3684413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ACCUSÉ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Stop horloge SLA (C3). La mesure = accusé, pas fin de job.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666750" y="796290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DF0E1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7250" y="8115300"/>
            <a:ext cx="1708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Chien de garde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DF0E1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signal absent à H-limite : </a:t>
            </a:r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incident + escalade producteur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DF0E1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. Jamais de génération dégradée silencieuse.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66750" y="859155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7250" y="8743950"/>
            <a:ext cx="1708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Idempotence &amp; rejeu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run_id = (report_id, client, business_date, version) : relance sans double génération ni double livraison.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66750" y="922020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7250" y="9372600"/>
            <a:ext cx="1708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Tardif après émission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v1 immuable ; un tardif déclenche un </a:t>
            </a:r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re-run vN+1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via le détecteur de delta, notifié au client.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D79B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F3 — SERVING PÉRIODIQUE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L'horloge sonne — la garde C1 vérifie, la politique décide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politique d'incomplétude est choisie par client — jamais improvisée à chaud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81200"/>
            <a:ext cx="3011170" cy="1609725"/>
          </a:xfrm>
          <a:prstGeom prst="roundRect">
            <a:avLst>
              <a:gd name="adj" fmla="val 5917"/>
            </a:avLst>
          </a:prstGeom>
          <a:solidFill>
            <a:srgbClr val="FFE6CC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2152650"/>
            <a:ext cx="2758605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SCHEDULER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E6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Calendrier métier : TZ client, fériés, quotidien 06:30 / hebdo / mensuel / annuel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754120" y="1981200"/>
            <a:ext cx="36195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116070" y="1981200"/>
            <a:ext cx="3011170" cy="1609725"/>
          </a:xfrm>
          <a:prstGeom prst="roundRect">
            <a:avLst>
              <a:gd name="adj" fmla="val 5917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87520" y="2152650"/>
            <a:ext cx="2758605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GARDE C1 (à H)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Lecture du watermark de complétude du périmètre × jour attendu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203440" y="1981200"/>
            <a:ext cx="36195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7565390" y="1981200"/>
            <a:ext cx="2210753" cy="1609725"/>
          </a:xfrm>
          <a:prstGeom prst="roundRect">
            <a:avLst>
              <a:gd name="adj" fmla="val 5917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8740" y="2152650"/>
            <a:ext cx="1944053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COMPLET ?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9852343" y="1981200"/>
            <a:ext cx="77470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6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OUI 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27042" y="1981200"/>
            <a:ext cx="3278029" cy="1609725"/>
          </a:xfrm>
          <a:prstGeom prst="roundRect">
            <a:avLst>
              <a:gd name="adj" fmla="val 5917"/>
            </a:avLst>
          </a:prstGeom>
          <a:solidFill>
            <a:srgbClr val="FFE6CC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98492" y="2152650"/>
            <a:ext cx="3033470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PAR CLASSE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E6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PLATINIUM : ressources réservées, préemption · GOLD/SILVER : fair-share · EDF (deliver-by le plus proche)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3981271" y="1981200"/>
            <a:ext cx="36195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4343221" y="1981200"/>
            <a:ext cx="3278029" cy="1609725"/>
          </a:xfrm>
          <a:prstGeom prst="roundRect">
            <a:avLst>
              <a:gd name="adj" fmla="val 5917"/>
            </a:avLst>
          </a:prstGeom>
          <a:solidFill>
            <a:srgbClr val="FFFFFF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514671" y="2152650"/>
            <a:ext cx="3033470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GÉNÉRATION → LIVRAISON → ACCUSÉ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Gold WAP, snapshot figé · canal C3 · accusé = stop horloge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666750" y="3838575"/>
            <a:ext cx="16954500" cy="571500"/>
          </a:xfrm>
          <a:prstGeom prst="roundRect">
            <a:avLst>
              <a:gd name="adj" fmla="val 16667"/>
            </a:avLst>
          </a:prstGeom>
          <a:solidFill>
            <a:srgbClr val="FDF0E1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6300" y="4010025"/>
            <a:ext cx="170440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 → politique d'incomplétude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DF0E1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obligatoire, choisie par client, lue dans le référentiel SLA (C3) :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6750" y="4657725"/>
            <a:ext cx="5549900" cy="1276350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6300" y="4867275"/>
            <a:ext cx="529729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(a) ATTENDRE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Retry du check C1 jusqu'à H + marge, puis livrer — retard tracé et notifié. L'exactitude prime.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69050" y="4657725"/>
            <a:ext cx="5549900" cy="1276350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8600" y="4867275"/>
            <a:ext cx="529729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(b) PARTIEL MARQUÉ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Livrer à H marqué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PARTIEL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(périmètre manquant explicite) + complément vN+1 automatique.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2071350" y="4657725"/>
            <a:ext cx="5549900" cy="1276350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80900" y="4867275"/>
            <a:ext cx="529729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(c) BLOQUER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Pas de livraison. Alerte client + exploitation, incident producteur, livraison dès complétude.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6750" y="859155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7250" y="8743950"/>
            <a:ext cx="1708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Alerte avant violation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à deliver-by − marge, si readiness non atteinte ou file en retard → alerte proactive. On ne découvre jamais le problème à H.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66750" y="922020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7250" y="9372600"/>
            <a:ext cx="1708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Fenêtre de charge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~100 rapports/jour au matin : lissage par classe, parallélisme borné, backpressure GOLD/SILVER — jamais au détriment de PLATINIUM.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967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F4 — EXTRACTION À LA DEMANDE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Pattern asynchrone 202 + jobId — snapshot figé opposable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Aucun export volumineux synchrone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81200"/>
            <a:ext cx="2751296" cy="135636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2152650"/>
            <a:ext cx="2490935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POST /extracts (périmètre, période, format)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494246" y="198120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856196" y="1981200"/>
            <a:ext cx="3233103" cy="1356360"/>
          </a:xfrm>
          <a:prstGeom prst="roundRect">
            <a:avLst>
              <a:gd name="adj" fmla="val 7022"/>
            </a:avLst>
          </a:prstGeom>
          <a:solidFill>
            <a:srgbClr val="E1D5E7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7646" y="2152650"/>
            <a:ext cx="2987196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— VALIDATION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1D5E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AuthZ + tenant · bornes volumétrie &amp; profondeur · quotas (jobs simultanés, volume/jour)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165499" y="198120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7527449" y="1981200"/>
            <a:ext cx="2751296" cy="135636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8899" y="2152650"/>
            <a:ext cx="2490935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 + jobId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Contrat asynchrone, découplé du timeout HTTP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0354945" y="198120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716895" y="1981200"/>
            <a:ext cx="2992279" cy="1356360"/>
          </a:xfrm>
          <a:prstGeom prst="roundRect">
            <a:avLst>
              <a:gd name="adj" fmla="val 7022"/>
            </a:avLst>
          </a:prstGeom>
          <a:solidFill>
            <a:srgbClr val="E1D5E7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8345" y="2152650"/>
            <a:ext cx="2739147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D'ATTENTE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1D5E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Scheduling par classe (PLATINIUM d'abord) + fair-share tenant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3785374" y="198120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4147324" y="1981200"/>
            <a:ext cx="3473926" cy="1356360"/>
          </a:xfrm>
          <a:prstGeom prst="roundRect">
            <a:avLst>
              <a:gd name="adj" fmla="val 7022"/>
            </a:avLst>
          </a:prstGeom>
          <a:solidFill>
            <a:srgbClr val="EAE6FF"/>
          </a:solidFill>
          <a:ln w="19050">
            <a:solidFill>
              <a:srgbClr val="4032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18774" y="2152650"/>
            <a:ext cx="3235244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WORKER — STARBURST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Requête fédérée sur snapshot Iceberg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figé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(snapshot_id = opposable, re-générable à l'identique)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666750" y="3585210"/>
            <a:ext cx="5359400" cy="1102995"/>
          </a:xfrm>
          <a:prstGeom prst="roundRect">
            <a:avLst>
              <a:gd name="adj" fmla="val 8636"/>
            </a:avLst>
          </a:prstGeom>
          <a:solidFill>
            <a:srgbClr val="FFFFFF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200" y="3756660"/>
            <a:ext cx="5177282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 STORAGE (COS)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Fichier chiffré, bucket par tenant, nommage jobId / snapshot_id / horodatage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6102350" y="3585210"/>
            <a:ext cx="361950" cy="1141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6464300" y="3585210"/>
            <a:ext cx="5359400" cy="1102995"/>
          </a:xfrm>
          <a:prstGeom prst="roundRect">
            <a:avLst>
              <a:gd name="adj" fmla="val 8636"/>
            </a:avLst>
          </a:prstGeom>
          <a:solidFill>
            <a:srgbClr val="FFFFFF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5750" y="3756660"/>
            <a:ext cx="5177282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URL PRÉSIGNÉE (TTL)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+ notification webhook / e-mail à la fin du job · pull direct depuis le bucket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1899900" y="3585210"/>
            <a:ext cx="361950" cy="1141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2261850" y="3585210"/>
            <a:ext cx="5359400" cy="1102995"/>
          </a:xfrm>
          <a:prstGeom prst="roundRect">
            <a:avLst>
              <a:gd name="adj" fmla="val 8636"/>
            </a:avLst>
          </a:prstGeom>
          <a:solidFill>
            <a:srgbClr val="FFFFFF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433300" y="3756660"/>
            <a:ext cx="5177282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SUIVI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GET /extracts/jobId : DEMANDE_INITIALISÉE → EN_FILE → RUNNING → TERMINÉ / ÉCHEC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666750" y="796290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7250" y="8115300"/>
            <a:ext cx="1708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Traçabilité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journal immuable : qui, quoi, quel périmètre, quand, snapshot_id, volumétrie → audit &amp; RGPD. Extraction re-jouable à l'identique (time travel).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66750" y="859155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7250" y="8743950"/>
            <a:ext cx="1708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Cycle de vie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expiration automatique des fichiers (TTL), purge, re-génération possible. Rien ne s'accumule dans le stockage d'échange.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66750" y="922020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3EDF6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7250" y="9372600"/>
            <a:ext cx="1708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Protection plateforme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3EDF6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bornes dures (10 ans max, plafond volumétrie) · quotas client · jamais la base chaude : Starburst fédère sans impacter F1.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82B3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DÉCLENCHEMENT MÉTIER — BOUT EN BOUT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Sessions de remise, enveloppes &amp; accusés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L'enveloppe (taille annoncée + marqueur de fin) rend la complétude prouvable — clause du contrat producteur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62150"/>
            <a:ext cx="3340100" cy="154305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2133600"/>
            <a:ext cx="309740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PRODUCTEUR — REMISES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Sessions 1..9/jour. Chaque remise = </a:t>
            </a:r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enveloppe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en-tête (id, taille annoncée, nb enregistrements, checksum) + corps + </a:t>
            </a:r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marqueur de fin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83050" y="1962150"/>
            <a:ext cx="36195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445000" y="1962150"/>
            <a:ext cx="2840673" cy="1543050"/>
          </a:xfrm>
          <a:prstGeom prst="roundRect">
            <a:avLst>
              <a:gd name="adj" fmla="val 6173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6450" y="2133600"/>
            <a:ext cx="258299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INGESTION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Kafka / dépôt fichier. Comptage au fil de l'eau : octets + enregistrements par (session × jour)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61873" y="1962150"/>
            <a:ext cx="36195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7723823" y="1962150"/>
            <a:ext cx="3340100" cy="1543050"/>
          </a:xfrm>
          <a:prstGeom prst="roundRect">
            <a:avLst>
              <a:gd name="adj" fmla="val 6173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95273" y="2133600"/>
            <a:ext cx="309740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CONTRÔLEUR D'ENVELOPPE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Au marqueur de fin : taille = annoncée ? comptage OK ? checksum OK ? → </a:t>
            </a:r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CLOSE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ou </a:t>
            </a:r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quarantaine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140122" y="1962150"/>
            <a:ext cx="36195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1502072" y="1962150"/>
            <a:ext cx="2840514" cy="1543050"/>
          </a:xfrm>
          <a:prstGeom prst="roundRect">
            <a:avLst>
              <a:gd name="adj" fmla="val 6173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73522" y="2133600"/>
            <a:ext cx="258282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REGISTRE C1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Avance le watermark. Publie « session S close » puis « jour J complet »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418786" y="1962150"/>
            <a:ext cx="36195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4780736" y="1962150"/>
            <a:ext cx="2840514" cy="1543050"/>
          </a:xfrm>
          <a:prstGeom prst="roundRect">
            <a:avLst>
              <a:gd name="adj" fmla="val 6173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52186" y="2133600"/>
            <a:ext cx="258282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MAPPING SESSION → RAPPORTS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Quels rapports (EDD/RB) et quels clients dépendent de cette session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6750" y="3733800"/>
            <a:ext cx="3661093" cy="1062990"/>
          </a:xfrm>
          <a:prstGeom prst="roundRect">
            <a:avLst>
              <a:gd name="adj" fmla="val 8961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200" y="3905250"/>
            <a:ext cx="342802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ORCHESTRATEUR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Déclenche l'extraction (run idempotent par rapport × client × jour × version)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04043" y="3733800"/>
            <a:ext cx="361950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4765993" y="3733800"/>
            <a:ext cx="3661251" cy="1062990"/>
          </a:xfrm>
          <a:prstGeom prst="roundRect">
            <a:avLst>
              <a:gd name="adj" fmla="val 8961"/>
            </a:avLst>
          </a:prstGeom>
          <a:solidFill>
            <a:srgbClr val="FFFFFF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443" y="3905250"/>
            <a:ext cx="3428189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GÉNÉRATION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Agrégats + rendu depuis le gold publié (WAP), snapshot figé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503444" y="3733800"/>
            <a:ext cx="361950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8865394" y="3733800"/>
            <a:ext cx="3661093" cy="1062990"/>
          </a:xfrm>
          <a:prstGeom prst="roundRect">
            <a:avLst>
              <a:gd name="adj" fmla="val 8961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36844" y="3905250"/>
            <a:ext cx="342802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LIVRAISON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Canal du client (SFTP / API / portail) — priorités par classe SLA (C3)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602687" y="3733800"/>
            <a:ext cx="361950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2964637" y="3733800"/>
            <a:ext cx="4656614" cy="1062990"/>
          </a:xfrm>
          <a:prstGeom prst="roundRect">
            <a:avLst>
              <a:gd name="adj" fmla="val 8961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136087" y="3905250"/>
            <a:ext cx="4453412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ACCUSÉS DE RÉCEPTION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Vers les </a:t>
            </a:r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clients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rapport livré (stop horloge SLA) · vers le </a:t>
            </a:r>
            <a:pPr algn="l" indent="0" marL="0">
              <a:lnSpc>
                <a:spcPct val="11454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producteur </a:t>
            </a:r>
            <a:pPr algn="l" indent="0" marL="0">
              <a:lnSpc>
                <a:spcPct val="11454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accusé technique de session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66750" y="5025390"/>
            <a:ext cx="8401050" cy="3966210"/>
          </a:xfrm>
          <a:prstGeom prst="roundRect">
            <a:avLst>
              <a:gd name="adj" fmla="val 2402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7250" y="5215890"/>
            <a:ext cx="8272082" cy="3623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Quarantaine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enveloppe non conforme (taille ≠ annoncée, checksum KO, marqueur absent à H-limite) : session NON close, </a:t>
            </a:r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aucun déclenchement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, incident + relance producteur.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220200" y="5025390"/>
            <a:ext cx="8401050" cy="3966210"/>
          </a:xfrm>
          <a:prstGeom prst="roundRect">
            <a:avLst>
              <a:gd name="adj" fmla="val 2402"/>
            </a:avLst>
          </a:prstGeom>
          <a:solidFill>
            <a:srgbClr val="EAF5E9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0700" y="5215890"/>
            <a:ext cx="8272082" cy="3623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Pourquoi l'enveloppe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EAF5E9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sans taille annoncée ni marqueur, la complétude est indécidable (« plus rien n'arrive » ou « flux en retard » ?). L'enveloppe la rend </a:t>
            </a:r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prouvable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EAF5E9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, donc le déclenchement </a:t>
            </a:r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sûr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EAF5E9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66750" y="922020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7250" y="9372600"/>
            <a:ext cx="1708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Tardifs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un enregistrement post-clôture suit C2 : raw → commit correctif gold → détecteur de delta → re-run vN+1 (avant cut-off) ou correctif J+1. La session close reste close.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967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F4 — ARCHITECTURE LOGICIELLE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Extraction asynchrone — API + DSL → Kafka → COS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jobId immédiat → worker → dépôt object storage → pull temps réel par le consommateur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62150"/>
            <a:ext cx="2887663" cy="1609725"/>
          </a:xfrm>
          <a:prstGeom prst="roundRect">
            <a:avLst>
              <a:gd name="adj" fmla="val 5917"/>
            </a:avLst>
          </a:prstGeom>
          <a:solidFill>
            <a:srgbClr val="FFFFFF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2133600"/>
            <a:ext cx="2631393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CONSOMMATEUR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POST /extracts { dataset, filtres,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DSL de requêtage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, format }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630613" y="1962150"/>
            <a:ext cx="36195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992563" y="1962150"/>
            <a:ext cx="3396774" cy="1609725"/>
          </a:xfrm>
          <a:prstGeom prst="roundRect">
            <a:avLst>
              <a:gd name="adj" fmla="val 5917"/>
            </a:avLst>
          </a:prstGeom>
          <a:solidFill>
            <a:srgbClr val="E1D5E7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4013" y="2133600"/>
            <a:ext cx="3155777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EXTRACTION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1D5E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AuthZ + tenant · parse &amp; validation du DSL (datasets autorisés, bornes) · création du job : statut DEMANDE_INITIALISÉE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465536" y="1962150"/>
            <a:ext cx="36195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7827486" y="1962150"/>
            <a:ext cx="2887662" cy="1609725"/>
          </a:xfrm>
          <a:prstGeom prst="roundRect">
            <a:avLst>
              <a:gd name="adj" fmla="val 5917"/>
            </a:avLst>
          </a:prstGeom>
          <a:solidFill>
            <a:srgbClr val="FFFFFF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98936" y="2133600"/>
            <a:ext cx="2631392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KAFKA extract-requests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Message produit dès réception. Découplage total API / exécution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0791348" y="1962150"/>
            <a:ext cx="36195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1153298" y="1962150"/>
            <a:ext cx="3142139" cy="1609725"/>
          </a:xfrm>
          <a:prstGeom prst="roundRect">
            <a:avLst>
              <a:gd name="adj" fmla="val 5917"/>
            </a:avLst>
          </a:prstGeom>
          <a:solidFill>
            <a:srgbClr val="EAE6FF"/>
          </a:solidFill>
          <a:ln w="19050">
            <a:solidFill>
              <a:srgbClr val="4032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24748" y="2133600"/>
            <a:ext cx="2893503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WORKERS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Consomment le topic (scheduling par classe) · statut RUNNING · DSL compilé sur snapshot Iceberg figé (Starburst)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4371638" y="1962150"/>
            <a:ext cx="36195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4733588" y="1962150"/>
            <a:ext cx="2887663" cy="1609725"/>
          </a:xfrm>
          <a:prstGeom prst="roundRect">
            <a:avLst>
              <a:gd name="adj" fmla="val 5917"/>
            </a:avLst>
          </a:prstGeom>
          <a:solidFill>
            <a:srgbClr val="FFFFFF"/>
          </a:solidFill>
          <a:ln w="19050">
            <a:solidFill>
              <a:srgbClr val="4032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05038" y="2133600"/>
            <a:ext cx="2631393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 STORAGE (COS)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Bucket par tenant, chiffré, nommage jobId/horodatage/snapshot_id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666750" y="3800475"/>
            <a:ext cx="5549900" cy="1168241"/>
          </a:xfrm>
          <a:prstGeom prst="roundRect">
            <a:avLst>
              <a:gd name="adj" fmla="val 8153"/>
            </a:avLst>
          </a:prstGeom>
          <a:solidFill>
            <a:srgbClr val="FFFFFF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250" y="3990975"/>
            <a:ext cx="5335397" cy="825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Réponse immédiate (202)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{ jobId, created_at, statut } — aucune attente d'exécution côté appelant.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6369050" y="3800475"/>
            <a:ext cx="5549900" cy="1168241"/>
          </a:xfrm>
          <a:prstGeom prst="roundRect">
            <a:avLst>
              <a:gd name="adj" fmla="val 8153"/>
            </a:avLst>
          </a:prstGeom>
          <a:solidFill>
            <a:srgbClr val="E1D5E7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9550" y="3990975"/>
            <a:ext cx="5335397" cy="825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store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1D5E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État de chaque job, horodaté à chaque transition. Source unique du GET /extracts/jobId.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12071350" y="3800475"/>
            <a:ext cx="5549900" cy="1168241"/>
          </a:xfrm>
          <a:prstGeom prst="roundRect">
            <a:avLst>
              <a:gd name="adj" fmla="val 8153"/>
            </a:avLst>
          </a:prstGeom>
          <a:solidFill>
            <a:srgbClr val="FFFFFF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61850" y="3990975"/>
            <a:ext cx="5335397" cy="825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Pull temps réel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Le consommateur récupère le fichier </a:t>
            </a:r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directement depuis COS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URL présignée (TTL) ou credentials scopés.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666750" y="8362950"/>
            <a:ext cx="16954500" cy="762000"/>
          </a:xfrm>
          <a:prstGeom prst="roundRect">
            <a:avLst>
              <a:gd name="adj" fmla="val 10000"/>
            </a:avLst>
          </a:prstGeom>
          <a:solidFill>
            <a:srgbClr val="F3EDF6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7250" y="8515350"/>
            <a:ext cx="170821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Cycle de vie du job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3EDF6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DEMANDE_INITIALISÉE → EN_FILE → RUNNING → </a:t>
            </a:r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TERMINÉ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3EDF6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(fichier + notification webhook) ou ÉCHEC (motif exposé, re-soumission). Chaque transition horodatée et auditée.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6750" y="922020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7250" y="9372600"/>
            <a:ext cx="1708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Garanties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DSL validé et borné à l'entrée · résultat opposable (snapshot_id figé) · fichiers TTL + purge · scheduling par classe + fair-share — un client ne bloque jamais les autres.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967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EXTRACTIONS — SCHÉMA TECHNIQUE 1/2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Séquence détaillée d'une extraction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Chaque transition est horodatée dans le job store — la latence de chaque segment est mesurable par classe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43100"/>
            <a:ext cx="533400" cy="811530"/>
          </a:xfrm>
          <a:prstGeom prst="roundRect">
            <a:avLst>
              <a:gd name="adj" fmla="val 17857"/>
            </a:avLst>
          </a:prstGeom>
          <a:solidFill>
            <a:srgbClr val="403294"/>
          </a:solidFill>
          <a:ln/>
        </p:spPr>
      </p:sp>
      <p:sp>
        <p:nvSpPr>
          <p:cNvPr id="6" name="Text 4"/>
          <p:cNvSpPr/>
          <p:nvPr/>
        </p:nvSpPr>
        <p:spPr>
          <a:xfrm>
            <a:off x="628650" y="1943100"/>
            <a:ext cx="609600" cy="849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314450" y="1943100"/>
            <a:ext cx="16306800" cy="811530"/>
          </a:xfrm>
          <a:prstGeom prst="roundRect">
            <a:avLst>
              <a:gd name="adj" fmla="val 11737"/>
            </a:avLst>
          </a:prstGeom>
          <a:solidFill>
            <a:srgbClr val="E1D5E7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4950" y="2095500"/>
            <a:ext cx="16415004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SOUMISSION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1D5E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POST /extracts { dataset, filtres, DSL, format }. AuthZ + tenant, parse &amp; validation du DSL (datasets autorisés, bornes volumétrie/profondeur), résolution de la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classe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1D5E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du client (cache segmentation). Job créé : statut DEMANDE_INITIALISÉE + created_at → réponse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 { jobId }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1D5E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immédiate.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666750" y="2868930"/>
            <a:ext cx="533400" cy="558165"/>
          </a:xfrm>
          <a:prstGeom prst="roundRect">
            <a:avLst>
              <a:gd name="adj" fmla="val 17857"/>
            </a:avLst>
          </a:prstGeom>
          <a:solidFill>
            <a:srgbClr val="403294"/>
          </a:solidFill>
          <a:ln/>
        </p:spPr>
      </p:sp>
      <p:sp>
        <p:nvSpPr>
          <p:cNvPr id="10" name="Text 8"/>
          <p:cNvSpPr/>
          <p:nvPr/>
        </p:nvSpPr>
        <p:spPr>
          <a:xfrm>
            <a:off x="628650" y="2868930"/>
            <a:ext cx="609600" cy="596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314450" y="2868930"/>
            <a:ext cx="16306800" cy="558165"/>
          </a:xfrm>
          <a:prstGeom prst="roundRect">
            <a:avLst>
              <a:gd name="adj" fmla="val 17065"/>
            </a:avLst>
          </a:prstGeom>
          <a:solidFill>
            <a:srgbClr val="FFFFFF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4950" y="3021330"/>
            <a:ext cx="16415004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MISE EN FILE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message publié sur Kafka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extract-requests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(en-tête : classe, tenant, jobId). Statut → EN_FILE. Découplage total API / exécution : le timeout HTTP ne contraint jamais l'exécution.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66750" y="3541395"/>
            <a:ext cx="533400" cy="811530"/>
          </a:xfrm>
          <a:prstGeom prst="roundRect">
            <a:avLst>
              <a:gd name="adj" fmla="val 17857"/>
            </a:avLst>
          </a:prstGeom>
          <a:solidFill>
            <a:srgbClr val="403294"/>
          </a:solidFill>
          <a:ln/>
        </p:spPr>
      </p:sp>
      <p:sp>
        <p:nvSpPr>
          <p:cNvPr id="14" name="Text 12"/>
          <p:cNvSpPr/>
          <p:nvPr/>
        </p:nvSpPr>
        <p:spPr>
          <a:xfrm>
            <a:off x="628650" y="3541395"/>
            <a:ext cx="609600" cy="849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14450" y="3541395"/>
            <a:ext cx="16306800" cy="811530"/>
          </a:xfrm>
          <a:prstGeom prst="roundRect">
            <a:avLst>
              <a:gd name="adj" fmla="val 11737"/>
            </a:avLst>
          </a:prstGeom>
          <a:solidFill>
            <a:srgbClr val="EAE6FF"/>
          </a:solidFill>
          <a:ln w="19050">
            <a:solidFill>
              <a:srgbClr val="4032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4950" y="3693795"/>
            <a:ext cx="16415004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SÉLECTION PAR LE WORKER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le pool choisit le prochain job par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(classe, created_at)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PLATINIUM en attente d'abord, FIFO dans la classe, anti-famine (SILVER &gt; 30 min → promu). Statut → RUNNING, worker_id + started_at enregistrés.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666750" y="4467225"/>
            <a:ext cx="533400" cy="811530"/>
          </a:xfrm>
          <a:prstGeom prst="roundRect">
            <a:avLst>
              <a:gd name="adj" fmla="val 17857"/>
            </a:avLst>
          </a:prstGeom>
          <a:solidFill>
            <a:srgbClr val="403294"/>
          </a:solidFill>
          <a:ln/>
        </p:spPr>
      </p:sp>
      <p:sp>
        <p:nvSpPr>
          <p:cNvPr id="18" name="Text 16"/>
          <p:cNvSpPr/>
          <p:nvPr/>
        </p:nvSpPr>
        <p:spPr>
          <a:xfrm>
            <a:off x="628650" y="4467225"/>
            <a:ext cx="609600" cy="849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14450" y="4467225"/>
            <a:ext cx="16306800" cy="811530"/>
          </a:xfrm>
          <a:prstGeom prst="roundRect">
            <a:avLst>
              <a:gd name="adj" fmla="val 11737"/>
            </a:avLst>
          </a:prstGeom>
          <a:solidFill>
            <a:srgbClr val="EAE6FF"/>
          </a:solidFill>
          <a:ln w="19050">
            <a:solidFill>
              <a:srgbClr val="4032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4950" y="4619625"/>
            <a:ext cx="16415004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EXÉCUTION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le DSL est compilé en requête fédérée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Starburst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sur un snapshot Iceberg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figé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(snapshot_id enregistré → résultat opposable, re-générable à l'identique). Filtre tenant injecté côté plateforme. Streaming du résultat vers le format demandé (CSV/Parquet).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666750" y="5393055"/>
            <a:ext cx="533400" cy="811530"/>
          </a:xfrm>
          <a:prstGeom prst="roundRect">
            <a:avLst>
              <a:gd name="adj" fmla="val 17857"/>
            </a:avLst>
          </a:prstGeom>
          <a:solidFill>
            <a:srgbClr val="403294"/>
          </a:solidFill>
          <a:ln/>
        </p:spPr>
      </p:sp>
      <p:sp>
        <p:nvSpPr>
          <p:cNvPr id="22" name="Text 20"/>
          <p:cNvSpPr/>
          <p:nvPr/>
        </p:nvSpPr>
        <p:spPr>
          <a:xfrm>
            <a:off x="628650" y="5393055"/>
            <a:ext cx="609600" cy="849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314450" y="5393055"/>
            <a:ext cx="16306800" cy="811530"/>
          </a:xfrm>
          <a:prstGeom prst="roundRect">
            <a:avLst>
              <a:gd name="adj" fmla="val 11737"/>
            </a:avLst>
          </a:prstGeom>
          <a:solidFill>
            <a:srgbClr val="FFFFFF"/>
          </a:solidFill>
          <a:ln w="19050">
            <a:solidFill>
              <a:srgbClr val="4032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4950" y="5545455"/>
            <a:ext cx="16415004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DÉPÔT COS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fichier chiffré déposé dans le bucket du tenant, nommage jobId/horodatage/snapshot_id. Statut →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TERMINÉ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+ notification (webhook / e-mail / événement bucket). En échec : statut ÉCHEC + motif exposé, re-soumission possible.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666750" y="6318885"/>
            <a:ext cx="533400" cy="811530"/>
          </a:xfrm>
          <a:prstGeom prst="roundRect">
            <a:avLst>
              <a:gd name="adj" fmla="val 17857"/>
            </a:avLst>
          </a:prstGeom>
          <a:solidFill>
            <a:srgbClr val="403294"/>
          </a:solidFill>
          <a:ln/>
        </p:spPr>
      </p:sp>
      <p:sp>
        <p:nvSpPr>
          <p:cNvPr id="26" name="Text 24"/>
          <p:cNvSpPr/>
          <p:nvPr/>
        </p:nvSpPr>
        <p:spPr>
          <a:xfrm>
            <a:off x="628650" y="6318885"/>
            <a:ext cx="609600" cy="849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314450" y="6318885"/>
            <a:ext cx="16306800" cy="811530"/>
          </a:xfrm>
          <a:prstGeom prst="roundRect">
            <a:avLst>
              <a:gd name="adj" fmla="val 11737"/>
            </a:avLst>
          </a:prstGeom>
          <a:solidFill>
            <a:srgbClr val="E1D5E7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4950" y="6471285"/>
            <a:ext cx="16415004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RÉCUPÉRATION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1D5E7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pull direct depuis COS : URL présignée (TTL) ou credentials scopés au préfixe tenant. GET /extracts/jobId consultable à tout moment (lit le job store). Purge automatique à expiration du TTL.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666750" y="9048750"/>
            <a:ext cx="16954500" cy="704850"/>
          </a:xfrm>
          <a:prstGeom prst="roundRect">
            <a:avLst>
              <a:gd name="adj" fmla="val 10811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7250" y="9182100"/>
            <a:ext cx="1708213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Mesure </a:t>
            </a:r>
            <a:pPr algn="l" indent="0" marL="0"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chaque transition (created → queued → running → done → fetched) est horodatée : temps de file par classe, durée d'exécution, délai de récupération — alimentent les SLO F4 par classe de volumétrie.</a:t>
            </a:r>
            <a:endParaRPr lang="en-US" sz="14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9673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EXTRACTIONS — SCHÉMA TECHNIQUE 2/2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Workers, scheduling par classe &amp; protection plateforme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Les mêmes Class-of-Service Lanes appliquées au serving des extractions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43100"/>
            <a:ext cx="4746784" cy="1392555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2114550"/>
            <a:ext cx="4546287" cy="108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KAFKA extract-requests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Partitionné par classe (en-tête) ou topics dédiés extract-platinium / gold / silver — même pattern que l'ingestion des autorisations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508784" y="1943100"/>
            <a:ext cx="361950" cy="1430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889784" y="1943100"/>
            <a:ext cx="5627687" cy="1392555"/>
          </a:xfrm>
          <a:prstGeom prst="roundRect">
            <a:avLst>
              <a:gd name="adj" fmla="val 6840"/>
            </a:avLst>
          </a:prstGeom>
          <a:solidFill>
            <a:srgbClr val="EAE6FF"/>
          </a:solidFill>
          <a:ln w="19050">
            <a:solidFill>
              <a:srgbClr val="4032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61234" y="2114550"/>
            <a:ext cx="5453618" cy="108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POOL DE WORKERS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AE6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Slots réservés PLATINIUM (jamais partagés) • Slots mutualisés GOLD/SILVER avec fair-share tenant • Scale-out sur profondeur de file par classe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1612721" y="1943100"/>
            <a:ext cx="361950" cy="1430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993721" y="1943100"/>
            <a:ext cx="5627529" cy="1392555"/>
          </a:xfrm>
          <a:prstGeom prst="roundRect">
            <a:avLst>
              <a:gd name="adj" fmla="val 6840"/>
            </a:avLst>
          </a:prstGeom>
          <a:solidFill>
            <a:srgbClr val="E6E0F8"/>
          </a:solidFill>
          <a:ln w="19050">
            <a:solidFill>
              <a:srgbClr val="4032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5171" y="2114550"/>
            <a:ext cx="5453454" cy="108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STARBURST — resource groups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6E0F8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Groupe de ressources par classe (CPU/mémoire plafonnés) • Requête SILVER lourde ≠ impact PLATINIUM • Timeout requête + kill automatique au-delà des bornes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66750" y="3545205"/>
            <a:ext cx="8401050" cy="4868704"/>
          </a:xfrm>
          <a:prstGeom prst="roundRect">
            <a:avLst>
              <a:gd name="adj" fmla="val 1956"/>
            </a:avLst>
          </a:prstGeom>
          <a:solidFill>
            <a:srgbClr val="DEEB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7250" y="3735705"/>
            <a:ext cx="8272082" cy="4525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Ordonnancement (classe, created_at)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PLATINIUM en attente d'abord, FIFO par date de demande • puis GOLD, puis SILVER • </a:t>
            </a:r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Anti-famine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âge max par classe (SILVER &gt; 30 min → promu) • Préemption douce : un job SILVER en cours n'est pas tué, mais le slot libéré revient à PLATINIUM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9220200" y="3545205"/>
            <a:ext cx="8401050" cy="4868704"/>
          </a:xfrm>
          <a:prstGeom prst="roundRect">
            <a:avLst>
              <a:gd name="adj" fmla="val 1956"/>
            </a:avLst>
          </a:prstGeom>
          <a:solidFill>
            <a:srgbClr val="F3EDF6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0700" y="3735705"/>
            <a:ext cx="8272082" cy="4525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Protection plateforme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3EDF6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Quotas par tenant : jobs simultanés, volume/jour • Bornes dures par requête : profondeur 10 ans max, plafond volumétrie • Jamais la base chaude — Starburst fédère Gold/Silver/Raw sans impacter F1 • Un tenant bruyant est isolé dans sa classe, jamais au-delà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666750" y="8623459"/>
            <a:ext cx="8401050" cy="1130141"/>
          </a:xfrm>
          <a:prstGeom prst="roundRect">
            <a:avLst>
              <a:gd name="adj" fmla="val 8428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250" y="8794909"/>
            <a:ext cx="8272082" cy="825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Dimensionnement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ratio de slots aligné sur le ratio de partitions (ex. 24/12/6) · revu par capacity planning sur les métriques de file (profondeur, temps d'attente p95 par classe) — pas au fil de l'eau.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9220200" y="8623459"/>
            <a:ext cx="8401050" cy="1130141"/>
          </a:xfrm>
          <a:prstGeom prst="roundRect">
            <a:avLst>
              <a:gd name="adj" fmla="val 8428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0700" y="8794909"/>
            <a:ext cx="8272082" cy="825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8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Monitoring dédié F4 </a:t>
            </a:r>
            <a:pPr algn="l" indent="0" marL="0">
              <a:lnSpc>
                <a:spcPct val="11978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temps de file par classe, durée d'exécution p95, taux d'échec par motif, volume extrait par tenant — mêmes dashboards par classe que le reste de la chaîne (error budget commun C3).</a:t>
            </a:r>
            <a:endParaRPr lang="en-US" sz="14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747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INGESTION &amp; CORRÉLATION DIFFÉRÉE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Ingérer vite, corréler ensuite — priorisé par SLA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L'ingestion dépose sans corréler (lag minimal, contrat Avro) ; un job permanent corrèle, ordonné par SLA métier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62150"/>
            <a:ext cx="3513614" cy="135636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2133600"/>
            <a:ext cx="327612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SOURCES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Messages Kafka (flux haute fréquence) · appels API (dépôts unitaires)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4256564" y="196215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618514" y="1962150"/>
            <a:ext cx="4465002" cy="1356360"/>
          </a:xfrm>
          <a:prstGeom prst="roundRect">
            <a:avLst>
              <a:gd name="adj" fmla="val 7022"/>
            </a:avLst>
          </a:prstGeom>
          <a:solidFill>
            <a:srgbClr val="DEEB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9964" y="2133600"/>
            <a:ext cx="4256053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INGESTION — CONTRAT À L'ENTRÉE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Schéma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Avro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(registry) : non conforme = rejeté à la source · clés de corrélation présentes et bien formées — contrôlées, jamais calculées ici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159716" y="196215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1666" y="1962150"/>
            <a:ext cx="4464844" cy="1356360"/>
          </a:xfrm>
          <a:prstGeom prst="roundRect">
            <a:avLst>
              <a:gd name="adj" fmla="val 7022"/>
            </a:avLst>
          </a:prstGeom>
          <a:solidFill>
            <a:srgbClr val="DEEB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3116" y="2133600"/>
            <a:ext cx="4255889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DÉPÔT DIRECT MONGO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Écriture immédiate du brut validé (statut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NON_CORRÉLÉ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),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aucun calcul de corrélation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dans le chemin d'ingestion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4062710" y="196215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4424660" y="1962150"/>
            <a:ext cx="3196590" cy="135636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596110" y="2133600"/>
            <a:ext cx="2949588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LAG ≈ 0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L'ingestion ne fait que valider + écrire — lag consumer surveillé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666750" y="3547110"/>
            <a:ext cx="3286760" cy="1609725"/>
          </a:xfrm>
          <a:prstGeom prst="roundRect">
            <a:avLst>
              <a:gd name="adj" fmla="val 5917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200" y="3718560"/>
            <a:ext cx="3042463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PRIORISATION SLA (C3)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de corrélation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ordonnée par SLA métier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PLATINIUM / clients volumineux d'abord ; fair-share pour le reste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4029710" y="3547110"/>
            <a:ext cx="1383189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6B6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ordonne →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412899" y="3547110"/>
            <a:ext cx="4169886" cy="1609725"/>
          </a:xfrm>
          <a:prstGeom prst="roundRect">
            <a:avLst>
              <a:gd name="adj" fmla="val 5917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4349" y="3718560"/>
            <a:ext cx="3952083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DE CORRÉLATION PERMANENT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Schedulé en continu,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indépendant du consumer Kafka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. Sélectionne les NON_CORRÉLÉ et corrèle avec les transactions en base (clés du contrat)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658985" y="3547110"/>
            <a:ext cx="36195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020935" y="3547110"/>
            <a:ext cx="4169886" cy="1609725"/>
          </a:xfrm>
          <a:prstGeom prst="roundRect">
            <a:avLst>
              <a:gd name="adj" fmla="val 5917"/>
            </a:avLst>
          </a:prstGeom>
          <a:solidFill>
            <a:srgbClr val="DEEB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92385" y="3718560"/>
            <a:ext cx="3952083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MODÈLE ORGANISÉ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Transaction CORRÉLÉ → état consolidé, servi par F1, alimente le gold. Orphelins : retry backoff → parking + alerte contrat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4267021" y="3547110"/>
            <a:ext cx="361950" cy="16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4628971" y="3547110"/>
            <a:ext cx="2992279" cy="1609725"/>
          </a:xfrm>
          <a:prstGeom prst="roundRect">
            <a:avLst>
              <a:gd name="adj" fmla="val 5917"/>
            </a:avLst>
          </a:prstGeom>
          <a:solidFill>
            <a:srgbClr val="FFFFFF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00421" y="3718560"/>
            <a:ext cx="2739147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BACKLOG SURVEILLÉ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Profondeur NON_CORRÉLÉ par client — seuils d'alerte par classe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666750" y="8362950"/>
            <a:ext cx="16954500" cy="762000"/>
          </a:xfrm>
          <a:prstGeom prst="roundRect">
            <a:avLst>
              <a:gd name="adj" fmla="val 10000"/>
            </a:avLst>
          </a:prstGeom>
          <a:solidFill>
            <a:srgbClr val="EAF5E9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7250" y="8515350"/>
            <a:ext cx="170821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Pourquoi ce découplage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EAF5E9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la corrélation est coûteuse et dépend de l'ordre d'arrivée ; dans le consumer, elle créerait du lag. Déportée : ingestion toujours rapide, corrélation ré-essayable, </a:t>
            </a:r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priorisation SLA possible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EAF5E9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sans toucher au chemin chaud.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66750" y="922020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7250" y="9372600"/>
            <a:ext cx="1708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Garanties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aucun message conforme perdu (dépôt direct + raw) · non conforme rejeté à l'entrée avec erreur explicite · corrélation idempotente · tardifs → C2 après corrélation.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854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C1 + C2 — COMPLÉTUDE &amp; TARDIFS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Les tardifs corrigent le lac, jamais les rapports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 registre des attendus prouve la complétude ; les rapports sont versionnés et immuables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62150"/>
            <a:ext cx="3513614" cy="135636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2133600"/>
            <a:ext cx="327612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CONTRATS PRODUCTEURS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Attendus déclarés : sessions 1..9, fichiers, partitions, horaires. Tout flux entrant est sous contrat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4256564" y="196215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618514" y="1962150"/>
            <a:ext cx="4147820" cy="1356360"/>
          </a:xfrm>
          <a:prstGeom prst="roundRect">
            <a:avLst>
              <a:gd name="adj" fmla="val 7022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9964" y="2133600"/>
            <a:ext cx="3929355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REGISTRE DES ATTENDUS (C1)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Table (périmètre × jour) : attendus / reçus /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watermark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/ statut — alimentée par les événements de flux Kafka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8842534" y="196215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204484" y="1962150"/>
            <a:ext cx="3830796" cy="1356360"/>
          </a:xfrm>
          <a:prstGeom prst="roundRect">
            <a:avLst>
              <a:gd name="adj" fmla="val 7022"/>
            </a:avLst>
          </a:prstGeom>
          <a:solidFill>
            <a:srgbClr val="E3FCEF"/>
          </a:solidFill>
          <a:ln w="19050">
            <a:solidFill>
              <a:srgbClr val="0066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75934" y="2133600"/>
            <a:ext cx="360282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WRITE-AUDIT-PUBLISH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Staging → audits (volumétrie vs attendu, équilibres, schéma, DQ) →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publication atomique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3111480" y="196215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473430" y="1962150"/>
            <a:ext cx="4147820" cy="1356360"/>
          </a:xfrm>
          <a:prstGeom prst="roundRect">
            <a:avLst>
              <a:gd name="adj" fmla="val 7022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44880" y="2133600"/>
            <a:ext cx="3929355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SIGNAUX DE COMPLÉTUDE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« P × J complet » sur le bus.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Déclenche F2 · garde F3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· alimente les méta fraîcheur F1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666750" y="3547110"/>
            <a:ext cx="3823018" cy="1356360"/>
          </a:xfrm>
          <a:prstGeom prst="roundRect">
            <a:avLst>
              <a:gd name="adj" fmla="val 7022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200" y="3718560"/>
            <a:ext cx="3594808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MESSAGE TARDIF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business_date déjà réputée complète — voire servie. Détecté vs watermark C1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4565968" y="354711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4927918" y="3547110"/>
            <a:ext cx="3823018" cy="135636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9368" y="3718560"/>
            <a:ext cx="3594808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INGESTION RAW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Systématique — rien n'est jamais perdu ni rejeté (raw 10 ans)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8827135" y="354711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189085" y="3547110"/>
            <a:ext cx="3823018" cy="1356360"/>
          </a:xfrm>
          <a:prstGeom prst="roundRect">
            <a:avLst>
              <a:gd name="adj" fmla="val 7022"/>
            </a:avLst>
          </a:prstGeom>
          <a:solidFill>
            <a:srgbClr val="E3FCEF"/>
          </a:solidFill>
          <a:ln w="19050">
            <a:solidFill>
              <a:srgbClr val="0066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60535" y="3718560"/>
            <a:ext cx="3594808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COMMIT CORRECTIF GOLD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Nouveau snapshot Iceberg sur la partition du jour concerné (via WAP)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3088302" y="3547110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3450252" y="3547110"/>
            <a:ext cx="4170997" cy="1356360"/>
          </a:xfrm>
          <a:prstGeom prst="roundRect">
            <a:avLst>
              <a:gd name="adj" fmla="val 7022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621702" y="3718560"/>
            <a:ext cx="3953227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DÉTECTEUR DE DELTA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Diff snapshot N vs N−1 sur les partitions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déjà servies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→ liste des (client, rapport, jour) impactés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666750" y="5132070"/>
            <a:ext cx="8401050" cy="1209675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9050">
            <a:solidFill>
              <a:srgbClr val="0066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7250" y="5322570"/>
            <a:ext cx="827208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AVANT cut-off → re-run vN+1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Nouveau rapport </a:t>
            </a:r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immuable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(report_id, client, business_date, vN+1), notifié avec motif. L'ancien reste consultable.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220200" y="5132070"/>
            <a:ext cx="8401050" cy="1209675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0700" y="5322570"/>
            <a:ext cx="827208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APRÈS cut-off → porté au lendemain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Delta intégré au </a:t>
            </a:r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rapport correctif de J+1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(contractuel). Le jour J reste figé tel que livré.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66750" y="8362950"/>
            <a:ext cx="16954500" cy="762000"/>
          </a:xfrm>
          <a:prstGeom prst="roundRect">
            <a:avLst>
              <a:gd name="adj" fmla="val 10000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7250" y="8515350"/>
            <a:ext cx="170821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Invariants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un rapport émis n'est </a:t>
            </a:r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jamais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modifié · chaque run référence son snapshot_id (time travel = preuve) · raw 10 ans = rejeu intégral · le cut-off est contractuel, par (client × rapport), dans C3.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6750" y="9220200"/>
            <a:ext cx="16954500" cy="533400"/>
          </a:xfrm>
          <a:prstGeom prst="roundRect">
            <a:avLst>
              <a:gd name="adj" fmla="val 14286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7250" y="9372600"/>
            <a:ext cx="1708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Chronologie type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J 00:00 ouverture → sessions reçues + auditées → signal complet → génération v1 → deliver-by → cut-off (ex. J+1 12:00) : avant = vN+1 du jour J ; après = correctif J+1.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854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GESTION DES RETARDS SELON LE CONTENU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Delta vs recalcul — un attribut du rapport, jamais un choix au run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 tardif a corrigé le gold après émission (C2). Comment rectifier chez le client ? La réponse dépend de la nature du contenu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62150"/>
            <a:ext cx="8391525" cy="5483543"/>
          </a:xfrm>
          <a:prstGeom prst="roundRect">
            <a:avLst>
              <a:gd name="adj" fmla="val 1737"/>
            </a:avLst>
          </a:prstGeom>
          <a:solidFill>
            <a:srgbClr val="DEEB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09800"/>
            <a:ext cx="8147971" cy="502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DONNÉES BRUTES → RAPPORT DELTA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On n'envoie que les enregistrements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nouveaux ou modifiés depuis le dernier rapport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(diff par clé d'identité + horodatage d'intégration) • Le rapport initial reste valide : le delta le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complète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Marquage explicite : type=DELTA, référence au rapport de base, période couverte • Peu coûteux : pas de recalcul, simple extraction du différentiel </a:t>
            </a:r>
            <a:pPr algn="l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ex. rapport des autorisations, décomptes détaillés, listes d'impayés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229725" y="1962150"/>
            <a:ext cx="8391525" cy="5483543"/>
          </a:xfrm>
          <a:prstGeom prst="roundRect">
            <a:avLst>
              <a:gd name="adj" fmla="val 1737"/>
            </a:avLst>
          </a:prstGeom>
          <a:solidFill>
            <a:srgbClr val="E3FCEF"/>
          </a:solidFill>
          <a:ln w="19050">
            <a:solidFill>
              <a:srgbClr val="0066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77375" y="2209800"/>
            <a:ext cx="8147971" cy="502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COMPTEURS / KPIs → RECALCUL + vN+1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Un delta est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inexploitable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le client ne peut pas « corriger » un agrégat déjà reçu • Recalcul sur la partition corrigée (snapshot figé) →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rapport complet vN+1 qui remplace le précédent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La v1 reste archivée côté plateforme (immuabilité + preuve) ; notification « remplace v1, motif : tardifs » </a:t>
            </a:r>
            <a:pPr algn="l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ex. CA par pays, fraude par réseau, taux IFF, activité par tranche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6750" y="7674293"/>
            <a:ext cx="5562600" cy="1088708"/>
          </a:xfrm>
          <a:prstGeom prst="roundRect">
            <a:avLst>
              <a:gd name="adj" fmla="val 8749"/>
            </a:avLst>
          </a:prstGeom>
          <a:solidFill>
            <a:srgbClr val="FFE6CC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200" y="7845743"/>
            <a:ext cx="5386578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F3 — horloge (concerné)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E6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Stratégie déclarée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 rapport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E6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dans C3 : mode DELTA ou REPLACE + cut-off. Le détecteur C2 route automatiquement.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62700" y="7674293"/>
            <a:ext cx="5562600" cy="1088708"/>
          </a:xfrm>
          <a:prstGeom prst="roundRect">
            <a:avLst>
              <a:gd name="adj" fmla="val 8749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4150" y="7845743"/>
            <a:ext cx="5386578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F2 — événement (concerné)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Même règle : tardif post-clôture → C2 puis stratégie du rapport. La session close reste close.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058650" y="7674293"/>
            <a:ext cx="5562600" cy="1088708"/>
          </a:xfrm>
          <a:prstGeom prst="roundRect">
            <a:avLst>
              <a:gd name="adj" fmla="val 8749"/>
            </a:avLst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30100" y="7845743"/>
            <a:ext cx="5386578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F1 / F4 — on-demand (non concerné)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AE8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Sert l'état actuel à l'instant de la demande.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Aucun complément a posteriori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AE8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le client re-demande.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6750" y="8991600"/>
            <a:ext cx="16954500" cy="762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250" y="9144000"/>
            <a:ext cx="170821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Règle d'architecture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la stratégie est un </a:t>
            </a:r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attribut du rapport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(référentiel C3 : DELTA / REPLACE / AUCUN). Prérequis : clé d'identité stable + horodatage (delta) · versionnage vN+1 immuable + notification (replace) · cut-off contractuel (les deux).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D6B6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 — SLA MÉTIER PAR CLIENT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 référentiel unique pilote tout — la mesure = l'accusé de livraison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Ordonnancement, horloge SLA et alerte avant violation, depuis une seule source de vérité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62150"/>
            <a:ext cx="4367371" cy="2281238"/>
          </a:xfrm>
          <a:prstGeom prst="roundRect">
            <a:avLst>
              <a:gd name="adj" fmla="val 4175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250" y="2152650"/>
            <a:ext cx="4117392" cy="193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RÉFÉRENTIEL SLA (client × rapport)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Classe PLATINIUM / GOLD / SILVER • deliver-by (TZ du client) • Canal : SFTP / API pull / portail • Politique d'incomplétude (a/b/c) • Cut-off tardifs · pénalités · escalade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129371" y="1962150"/>
            <a:ext cx="1178084" cy="2319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B6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PILOTE 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6505" y="1962150"/>
            <a:ext cx="3447415" cy="2281238"/>
          </a:xfrm>
          <a:prstGeom prst="roundRect">
            <a:avLst>
              <a:gd name="adj" fmla="val 4175"/>
            </a:avLst>
          </a:prstGeom>
          <a:solidFill>
            <a:srgbClr val="FFFFFF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7005" y="2152650"/>
            <a:ext cx="3169838" cy="193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ORDONNANCEMENT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Files par classe, ressources réservées PLATINIUM • Fair-share GOLD/SILVER, préemption • EDF (deliver-by le plus proche) • Lissage de la fenêtre du matin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869170" y="1962150"/>
            <a:ext cx="361950" cy="2319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250170" y="1962150"/>
            <a:ext cx="3447415" cy="2281238"/>
          </a:xfrm>
          <a:prstGeom prst="roundRect">
            <a:avLst>
              <a:gd name="adj" fmla="val 4175"/>
            </a:avLst>
          </a:prstGeom>
          <a:solidFill>
            <a:srgbClr val="FFFFFF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40670" y="2152650"/>
            <a:ext cx="3169838" cy="193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HORLOGE SLA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Start = jour métier clos Jalons : readiness → génération → remise → </a:t>
            </a:r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ACCUSÉ = stop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Jamais la fin du job.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3792835" y="1962150"/>
            <a:ext cx="361950" cy="2319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4173835" y="1962150"/>
            <a:ext cx="3447415" cy="2281238"/>
          </a:xfrm>
          <a:prstGeom prst="roundRect">
            <a:avLst>
              <a:gd name="adj" fmla="val 4175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364335" y="2152650"/>
            <a:ext cx="3169838" cy="193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MONITORING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3 axes : fraîcheur · complétude · ponctualité Alerte à deliver-by − marge (</a:t>
            </a:r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avant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violation) · escalade auto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666750" y="4471988"/>
            <a:ext cx="16954500" cy="9525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5350" y="4662488"/>
            <a:ext cx="1700593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Chaîne de mesure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readiness C1 → mise en file (classe) → génération (snapshot figé) → remise canal →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accusé de livraison = stop horloge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. Chaque jalon horodaté et publié : le retard est localisable (producteur ? pipeline ? génération ? canal ?) — le SLA se pilote par jalon, pas au constat final.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6750" y="5653088"/>
            <a:ext cx="8401050" cy="3348038"/>
          </a:xfrm>
          <a:prstGeom prst="roundRect">
            <a:avLst>
              <a:gd name="adj" fmla="val 2845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250" y="5843588"/>
            <a:ext cx="8272082" cy="3005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Budget d'erreur par classe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Taux de tenue cible (ex. PLATINIUM 99,9 %/mois). Budget consommé → gel des changements + revue. Les classes ne partagent pas leur budget.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220200" y="5653088"/>
            <a:ext cx="8401050" cy="3348038"/>
          </a:xfrm>
          <a:prstGeom prst="roundRect">
            <a:avLst>
              <a:gd name="adj" fmla="val 2845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0700" y="5843588"/>
            <a:ext cx="8272082" cy="3005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Reporting de conformité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Tableau de bord SLA par client : tenue, retards, versions correctives, pénalités. Base factuelle des revues contractuelles mensuelles.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666750" y="9229725"/>
            <a:ext cx="16954500" cy="523875"/>
          </a:xfrm>
          <a:prstGeom prst="roundRect">
            <a:avLst>
              <a:gd name="adj" fmla="val 14545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7250" y="9382125"/>
            <a:ext cx="170821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Lien familles </a:t>
            </a:r>
            <a:pPr algn="l" indent="0" marL="0"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F1 : SLO techniques, pas de deliver-by · F2 : SLA relatif « ≤ X min après l'événement » · F3 : deliver-by ferme + politique d'incomplétude · F4 : engagement de délai par classe de volumétrie.</a:t>
            </a:r>
            <a:endParaRPr lang="en-US" sz="14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D79B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DÉCLENCHEMENT PAR HORLOGE — CHAÎNE COMPLÈTE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 SLA client irrigue chaque étage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 d'agrégats, génération, livraison — la priorité des gros clients partout, pas seulement dans la file initiale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62150"/>
            <a:ext cx="4903311" cy="1102995"/>
          </a:xfrm>
          <a:prstGeom prst="roundRect">
            <a:avLst>
              <a:gd name="adj" fmla="val 8636"/>
            </a:avLst>
          </a:prstGeom>
          <a:solidFill>
            <a:srgbClr val="FFE6CC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2133600"/>
            <a:ext cx="4707511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SCHEDULER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E6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Calendrier métier par rapport (TZ client, fériés, fréquences)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646261" y="1962150"/>
            <a:ext cx="361950" cy="1141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008211" y="1962150"/>
            <a:ext cx="4903470" cy="1102995"/>
          </a:xfrm>
          <a:prstGeom prst="roundRect">
            <a:avLst>
              <a:gd name="adj" fmla="val 8636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9661" y="2133600"/>
            <a:ext cx="4707674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GARDE C1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watermark à H ; sinon politique d'incomplétude du client (a/b/c)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0987882" y="1962150"/>
            <a:ext cx="361950" cy="1141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349832" y="1962150"/>
            <a:ext cx="6271419" cy="1102995"/>
          </a:xfrm>
          <a:prstGeom prst="roundRect">
            <a:avLst>
              <a:gd name="adj" fmla="val 8636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282" y="2133600"/>
            <a:ext cx="6116662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RÉFÉRENTIEL SLA (C3)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Injecté ici : classe du client, deliver-by, canal. </a:t>
            </a:r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PLATINIUM → voie prioritaire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sur toute la chaîne aval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66750" y="3293745"/>
            <a:ext cx="8401050" cy="1562100"/>
          </a:xfrm>
          <a:prstGeom prst="roundRect">
            <a:avLst>
              <a:gd name="adj" fmla="val 6098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6300" y="3503295"/>
            <a:ext cx="823398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VOIE PRIORITAIRE — PLATINIUM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File dédiée,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ressources de calcul réservées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(pool workers agrégats) • Calcul lancé en premier, préemption possible sur GOLD/SILVER • Génération + livraison prioritaires, slot canal garanti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20200" y="3293745"/>
            <a:ext cx="8401050" cy="156210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9750" y="3503295"/>
            <a:ext cx="823398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VOIE STANDARD — GOLD / SILVER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Fair-share sur le pool mutualisé, parallélisme borné • Ordonnancement au deliver-by le plus proche (EDF) • Backpressure acceptée — jamais au détriment de PLATINIUM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6750" y="5084445"/>
            <a:ext cx="4065111" cy="135636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200" y="5255895"/>
            <a:ext cx="3844165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 D'AGRÉGATS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Multi-dimensions depuis le gold publié — ordonnés par priorité SLA, snapshot figé par run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4808061" y="5084445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170011" y="5084445"/>
            <a:ext cx="4065111" cy="135636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1461" y="5255895"/>
            <a:ext cx="3844165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GÉNÉRATION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EDD (états mail) &amp; RB (rapports business) — rendu par client, v1 immuable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311322" y="5084445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673272" y="5084445"/>
            <a:ext cx="4065111" cy="1356360"/>
          </a:xfrm>
          <a:prstGeom prst="roundRect">
            <a:avLst>
              <a:gd name="adj" fmla="val 7022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44722" y="5255895"/>
            <a:ext cx="3844165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LIVRAISON PAR CANAL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SFTP / API pull / portail / mail (EDD) — slots prioritaires PLATINIUM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3814584" y="5084445"/>
            <a:ext cx="36195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4176534" y="5084445"/>
            <a:ext cx="3444716" cy="1356360"/>
          </a:xfrm>
          <a:prstGeom prst="roundRect">
            <a:avLst>
              <a:gd name="adj" fmla="val 7022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347984" y="5255895"/>
            <a:ext cx="3205158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ACCUSÉ </a:t>
            </a:r>
            <a:pPr algn="l" indent="0" marL="0">
              <a:lnSpc>
                <a:spcPct val="115652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Stop horloge SLA. Jalons horodatés à chaque étage → retard localisable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666750" y="6669405"/>
            <a:ext cx="16954500" cy="3084195"/>
          </a:xfrm>
          <a:prstGeom prst="roundRect">
            <a:avLst>
              <a:gd name="adj" fmla="val 2471"/>
            </a:avLst>
          </a:prstGeom>
          <a:solidFill>
            <a:srgbClr val="FDF0E1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6300" y="7982902"/>
            <a:ext cx="1703146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Moins de contraintes, même rigueur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pas d'événement métier à attendre, mais : garde C1 obligatoire à H, politique d'incomplétude par client, alerte à deliver-by − marge, et </a:t>
            </a:r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priorité SLA de bout en bout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un client PLATINIUM est prioritaire au calcul, à la génération ET à la livraison.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4032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PROCESSING PILOTÉ PAR LES SLA MÉTIER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Classes PLATINIUM / GOLD / SILVER — de l'ingestion au serving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Pattern « Class-of-Service Lanes » (alias topic-by-priority-class) : la priorité est une voie physique dédiée, pas un champ à trier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43100"/>
            <a:ext cx="4733925" cy="2629853"/>
          </a:xfrm>
          <a:prstGeom prst="roundRect">
            <a:avLst>
              <a:gd name="adj" fmla="val 3622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2114550"/>
            <a:ext cx="4533043" cy="2325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SEGMENTATION CLIENT (configurée)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clientId → classe · gérée par le métier, versionnée, auditée · </a:t>
            </a:r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mise en cache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dans l'ingestion (refresh périodique) · lookup O(1), zéro appel réseau par message · défaut sûr : inconnu → SILVER + alerte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76875" y="1943100"/>
            <a:ext cx="1117441" cy="2667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6B6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lookup 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94316" y="1943100"/>
            <a:ext cx="4734084" cy="2629853"/>
          </a:xfrm>
          <a:prstGeom prst="roundRect">
            <a:avLst>
              <a:gd name="adj" fmla="val 3622"/>
            </a:avLst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5766" y="2114550"/>
            <a:ext cx="4533206" cy="2325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INGESTION — ROUTEUR PAR CLASSE </a:t>
            </a:r>
            <a:pPr algn="l" indent="0" marL="0">
              <a:lnSpc>
                <a:spcPct val="118636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D5E8D4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Reçoit le message → extrait le clientId → résout la classe via le cache → produit vers le topic de la classe (clé = clientId, ordre préservé par client). Validation Avro uniquement — zéro lag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04600" y="1943100"/>
            <a:ext cx="361950" cy="2667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766550" y="1943100"/>
            <a:ext cx="3112135" cy="980122"/>
          </a:xfrm>
          <a:prstGeom prst="roundRect">
            <a:avLst>
              <a:gd name="adj" fmla="val 9718"/>
            </a:avLst>
          </a:prstGeom>
          <a:solidFill>
            <a:srgbClr val="E6E0F8"/>
          </a:solidFill>
          <a:ln w="28575">
            <a:solidFill>
              <a:srgbClr val="4032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28475" y="2085975"/>
            <a:ext cx="2881649" cy="732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topic autorisation-platinium </a:t>
            </a:r>
            <a:pPr algn="l" indent="0" marL="0">
              <a:lnSpc>
                <a:spcPct val="11045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6E0F8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24 partitions — parallélisme max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4973935" y="1943100"/>
            <a:ext cx="2647315" cy="980122"/>
          </a:xfrm>
          <a:prstGeom prst="roundRect">
            <a:avLst>
              <a:gd name="adj" fmla="val 9718"/>
            </a:avLst>
          </a:prstGeom>
          <a:solidFill>
            <a:srgbClr val="E6E0F8"/>
          </a:solidFill>
          <a:ln w="28575">
            <a:solidFill>
              <a:srgbClr val="4032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135860" y="2085975"/>
            <a:ext cx="2402885" cy="732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CG PLATINIUM </a:t>
            </a:r>
            <a:pPr algn="l" indent="0" marL="0">
              <a:lnSpc>
                <a:spcPct val="11045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6E0F8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jusqu'à 24 instances, capacité réservée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766550" y="3018472"/>
            <a:ext cx="3113881" cy="729615"/>
          </a:xfrm>
          <a:prstGeom prst="roundRect">
            <a:avLst>
              <a:gd name="adj" fmla="val 13055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18950" y="3151822"/>
            <a:ext cx="2902498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topic autorisation-gold </a:t>
            </a:r>
            <a:pPr algn="l" indent="0" marL="0">
              <a:lnSpc>
                <a:spcPct val="11045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12 partitions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4975681" y="3018472"/>
            <a:ext cx="2645569" cy="729615"/>
          </a:xfrm>
          <a:prstGeom prst="roundRect">
            <a:avLst>
              <a:gd name="adj" fmla="val 13055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128081" y="3151822"/>
            <a:ext cx="2420136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CG GOLD </a:t>
            </a:r>
            <a:pPr algn="l" indent="0" marL="0">
              <a:lnSpc>
                <a:spcPct val="11045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jusqu'à 12 instances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766550" y="3843338"/>
            <a:ext cx="3113881" cy="729615"/>
          </a:xfrm>
          <a:prstGeom prst="roundRect">
            <a:avLst>
              <a:gd name="adj" fmla="val 13055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18950" y="3976687"/>
            <a:ext cx="2902498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topic autorisation-silver </a:t>
            </a:r>
            <a:pPr algn="l" indent="0" marL="0">
              <a:lnSpc>
                <a:spcPct val="11045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6 partitions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4975681" y="3843338"/>
            <a:ext cx="2645569" cy="729615"/>
          </a:xfrm>
          <a:prstGeom prst="roundRect">
            <a:avLst>
              <a:gd name="adj" fmla="val 13055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128081" y="3976687"/>
            <a:ext cx="2420136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CG SILVER </a:t>
            </a:r>
            <a:pPr algn="l" indent="0" marL="0">
              <a:lnSpc>
                <a:spcPct val="110455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jusqu'à 6 instances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6750" y="4782503"/>
            <a:ext cx="16954500" cy="895350"/>
          </a:xfrm>
          <a:prstGeom prst="roundRect">
            <a:avLst>
              <a:gd name="adj" fmla="val 10638"/>
            </a:avLst>
          </a:prstGeom>
          <a:solidFill>
            <a:srgbClr val="E6E0F8"/>
          </a:solidFill>
          <a:ln w="19050">
            <a:solidFill>
              <a:srgbClr val="4032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6300" y="4953953"/>
            <a:ext cx="1704403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 pattern « Class-of-Service Lanes » </a:t>
            </a:r>
            <a:pPr algn="l" indent="0" marL="0">
              <a:lnSpc>
                <a:spcPct val="120833"/>
              </a:lnSpc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E6E0F8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(autres noms : Priority-Tiered Topics · SLA Lanes) — isolation totale : un pic SILVER ne ralentit jamais PLATINIUM. Débit relatif = ratio de partitions (24/12/6) ; capacité = taille du consumer group — deux leviers indépendants, ajustables sans code.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6750" y="5887402"/>
            <a:ext cx="8401050" cy="2951797"/>
          </a:xfrm>
          <a:prstGeom prst="roundRect">
            <a:avLst>
              <a:gd name="adj" fmla="val 3227"/>
            </a:avLst>
          </a:prstGeom>
          <a:solidFill>
            <a:srgbClr val="DEEB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7250" y="6077902"/>
            <a:ext cx="8272082" cy="2608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Serving — scheduling par classe (extractions)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Prochain job choisi par </a:t>
            </a:r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(classe, date de demande)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PLATINIUM d'abord, FIFO par created_at, puis GOLD, puis SILVER. </a:t>
            </a:r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Anti-famine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âge max par classe (SILVER &gt; 30 min → promu). Même règle pour les slots de livraison canal.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9220200" y="5887402"/>
            <a:ext cx="8401050" cy="2951797"/>
          </a:xfrm>
          <a:prstGeom prst="roundRect">
            <a:avLst>
              <a:gd name="adj" fmla="val 3227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0700" y="6077902"/>
            <a:ext cx="8272082" cy="2608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Bout en bout — la classe suit la donnée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Ingestion : topics par classe · corrélation : consumer groups dimensionnés · calcul/génération : files par classe, ressources réservées PLATINIUM · serving : scheduling (classe, date). Propagée dans les en-têtes — jamais recalculée en chemin.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666750" y="9048750"/>
            <a:ext cx="16954500" cy="704850"/>
          </a:xfrm>
          <a:prstGeom prst="roundRect">
            <a:avLst>
              <a:gd name="adj" fmla="val 10811"/>
            </a:avLst>
          </a:prstGeom>
          <a:solidFill>
            <a:srgbClr val="FAFBFC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7250" y="9182100"/>
            <a:ext cx="1708213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Gouvernance </a:t>
            </a:r>
            <a:pPr algn="l" indent="0" marL="0"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AFBF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3 classes max · changement de classe = acte de configuration (effet au prochain refresh, sans redéploiement) · les messages déjà routés ne migrent pas · ratio de partitions revu par capacity planning.</a:t>
            </a:r>
            <a:endParaRPr lang="en-US" sz="14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33400"/>
            <a:ext cx="18649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854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MONITORING — DÉPASSEMENT &amp; ERROR BUDGET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6750" y="885825"/>
            <a:ext cx="18649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 SLA se pilote par jalon, pas au constat final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6750" y="1466850"/>
            <a:ext cx="18649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252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Latence de bout en bout par classe, alerte AVANT violation, error budget par classe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66750" y="1943100"/>
            <a:ext cx="8401050" cy="1738313"/>
          </a:xfrm>
          <a:prstGeom prst="roundRect">
            <a:avLst>
              <a:gd name="adj" fmla="val 5479"/>
            </a:avLst>
          </a:prstGeom>
          <a:solidFill>
            <a:srgbClr val="DEEBFF"/>
          </a:solidFill>
          <a:ln w="19050">
            <a:solidFill>
              <a:srgbClr val="0747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250" y="2133600"/>
            <a:ext cx="8272082" cy="1395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Jalons horodatés (dimension = classe)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ingest_ts → topic_ts → consume_ts → correlate_ts → aggregate_ts → generate_ts → deliver_ts → </a:t>
            </a:r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ack_ts (stop horloge)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Latence bout-en-bout = ack_ts − ingest_ts, décomposable par segment → </a:t>
            </a:r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 retard est localisable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DEEB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9220200" y="1943100"/>
            <a:ext cx="8401050" cy="1738313"/>
          </a:xfrm>
          <a:prstGeom prst="roundRect">
            <a:avLst>
              <a:gd name="adj" fmla="val 5479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0700" y="2133600"/>
            <a:ext cx="8272082" cy="1395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SLO par classe (exemples) PLATINIUM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p99 ≤ 15 min · 99,9 % à l'heure/mois </a:t>
            </a:r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GOLD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p99 ≤ 60 min · 99,5 % · </a:t>
            </a:r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SILVER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: p99 ≤ 4 h · 99,0 % Déclarés dans le référentiel C3 — même source de vérité que l'ordonnancement.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666750" y="3890962"/>
            <a:ext cx="5549900" cy="2181225"/>
          </a:xfrm>
          <a:prstGeom prst="roundRect">
            <a:avLst>
              <a:gd name="adj" fmla="val 4367"/>
            </a:avLst>
          </a:prstGeom>
          <a:solidFill>
            <a:srgbClr val="E6E0F8"/>
          </a:solidFill>
          <a:ln w="19050">
            <a:solidFill>
              <a:srgbClr val="4032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7250" y="4081462"/>
            <a:ext cx="5335397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Santé des voies </a:t>
            </a:r>
            <a:pPr algn="l" indent="0" marL="0">
              <a:lnSpc>
                <a:spcPct val="122727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E6E0F8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Consumer lag par topic-classe (messages + secondes) • Débit produit vs consommé, backlog génération • Seuils par classe : lag PLATINIUM &gt; 60 s = incident ; GOLD &gt; 10 min = warning • Rebalancing / instances mortes → alerte immédiate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69050" y="3890962"/>
            <a:ext cx="5549900" cy="2181225"/>
          </a:xfrm>
          <a:prstGeom prst="roundRect">
            <a:avLst>
              <a:gd name="adj" fmla="val 4367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9550" y="4081462"/>
            <a:ext cx="5335397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Alerte avant violation </a:t>
            </a:r>
            <a:pPr algn="l" indent="0" marL="0">
              <a:lnSpc>
                <a:spcPct val="122727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Temps restant (deliver-by − now) vs temps résiduel estimé (percentiles historiques) • Alerte à </a:t>
            </a:r>
            <a:pPr algn="l" indent="0" marL="0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deliver-by − marge </a:t>
            </a:r>
            <a:pPr algn="l" indent="0" marL="0">
              <a:lnSpc>
                <a:spcPct val="122727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par classe (PLATINIUM : marge large + escalade auto) • Action possible AVANT : re-priorisation, scale-out, bascule de slot canal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071350" y="3890962"/>
            <a:ext cx="5549900" cy="2181225"/>
          </a:xfrm>
          <a:prstGeom prst="roundRect">
            <a:avLst>
              <a:gd name="adj" fmla="val 4367"/>
            </a:avLst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61850" y="4081462"/>
            <a:ext cx="5335397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Dépassement constaté </a:t>
            </a:r>
            <a:pPr algn="l" indent="0" marL="0">
              <a:lnSpc>
                <a:spcPct val="122727"/>
              </a:lnSpc>
              <a:buNone/>
            </a:pPr>
            <a:r>
              <a:rPr lang="en-US" sz="1350" dirty="0">
                <a:solidFill>
                  <a:srgbClr val="172B4D"/>
                </a:solidFill>
                <a:highlight>
                  <a:srgbClr val="F8CE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Incident auto : classe, client, rapport, segment fautif, durée • Notification client selon contrat (PLATINIUM : proactive) • Consomme l'error budget de la classe • Post-mortem si PLATINIUM ou récurrent (≥ 3/semaine, même segment)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6750" y="6281738"/>
            <a:ext cx="8401050" cy="2500313"/>
          </a:xfrm>
          <a:prstGeom prst="roundRect">
            <a:avLst>
              <a:gd name="adj" fmla="val 3810"/>
            </a:avLst>
          </a:prstGeom>
          <a:solidFill>
            <a:srgbClr val="E3FCEF"/>
          </a:solidFill>
          <a:ln w="19050">
            <a:solidFill>
              <a:srgbClr val="0066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250" y="6472238"/>
            <a:ext cx="8272082" cy="2157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Error budget par classe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Budget mensuel = 1 − objectif (PLATINIUM 99,9 % → 0,1 % toléré/mois) · </a:t>
            </a:r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burn rate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en continu : 10 % du budget en 1 h → page ; lent → ticket · épuisé → </a:t>
            </a:r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gel des changements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+ revue d'archi · les classes </a:t>
            </a:r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 partagent pas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E3FCE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leur budget · revue mensuelle par segment → où investir.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220200" y="6281738"/>
            <a:ext cx="8401050" cy="2500313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7A8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0700" y="6472238"/>
            <a:ext cx="8272082" cy="2157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913"/>
              </a:lnSpc>
              <a:buNone/>
            </a:pPr>
            <a:r>
              <a:rPr lang="en-US" sz="1425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Tableau de bord par classe </a:t>
            </a:r>
            <a:pPr algn="l" indent="0" marL="0">
              <a:lnSpc>
                <a:spcPct val="123913"/>
              </a:lnSpc>
              <a:buNone/>
            </a:pPr>
            <a:r>
              <a:rPr lang="en-US" sz="1425" dirty="0">
                <a:solidFill>
                  <a:srgbClr val="172B4D"/>
                </a:solidFill>
                <a:highlight>
                  <a:srgbClr val="FFFFFF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Tenue du mois vs objectif + budget restant (jauge) · latence p50/p95/p99 par segment · lag et backlog par voie · livraisons en risque (marge franchie) — liste actionnable · violations du mois : client, cause, segment, pénalité.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666750" y="8991600"/>
            <a:ext cx="16954500" cy="762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250" y="9144000"/>
            <a:ext cx="170821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Principe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— chaque étage connaît la classe, publie son horodatage, et l'alerte part </a:t>
            </a:r>
            <a:pPr algn="l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avant </a:t>
            </a:r>
            <a:pPr algn="l" indent="0" marL="0">
              <a:buNone/>
            </a:pPr>
            <a:r>
              <a:rPr lang="en-US" sz="1500" dirty="0">
                <a:solidFill>
                  <a:srgbClr val="172B4D"/>
                </a:solidFill>
                <a:highlight>
                  <a:srgbClr val="FFF2CC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la violation pendant qu'une action est encore possible. L'error budget transforme les dépassements en signal de gouvernance.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726055"/>
            <a:ext cx="171831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Synthèse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333500" y="3830955"/>
            <a:ext cx="5054600" cy="2579370"/>
          </a:xfrm>
          <a:prstGeom prst="roundRect">
            <a:avLst>
              <a:gd name="adj" fmla="val 4431"/>
            </a:avLst>
          </a:prstGeom>
          <a:solidFill>
            <a:srgbClr val="1D3A63"/>
          </a:solidFill>
          <a:ln w="19050">
            <a:solidFill>
              <a:srgbClr val="85B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19250" y="4116705"/>
            <a:ext cx="4634738" cy="204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950" b="1" dirty="0">
                <a:solidFill>
                  <a:srgbClr val="85B8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familles d'exposition </a:t>
            </a:r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FFFFFF"/>
                </a:solidFill>
                <a:highlight>
                  <a:srgbClr val="1D3A63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F1 accès à chaud · F2 déclencheur métier · F3 périodique · F4 extraction à la demande — chacune pilotée par des contraintes différentes, servie par le bon produit de données.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616700" y="3830955"/>
            <a:ext cx="5054600" cy="2579370"/>
          </a:xfrm>
          <a:prstGeom prst="roundRect">
            <a:avLst>
              <a:gd name="adj" fmla="val 4431"/>
            </a:avLst>
          </a:prstGeom>
          <a:solidFill>
            <a:srgbClr val="1D3A63"/>
          </a:solidFill>
          <a:ln w="19050">
            <a:solidFill>
              <a:srgbClr val="85B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2450" y="4116705"/>
            <a:ext cx="4634738" cy="204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950" b="1" dirty="0">
                <a:solidFill>
                  <a:srgbClr val="85B8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mécanismes transverses </a:t>
            </a:r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FFFFFF"/>
                </a:solidFill>
                <a:highlight>
                  <a:srgbClr val="1D3A63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C1 complétude prouvée · C2 tardifs et versions immuables (delta vs recalcul selon le contenu) · C3 référentiel SLA — source unique de vérité.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899900" y="3830955"/>
            <a:ext cx="5054600" cy="2579370"/>
          </a:xfrm>
          <a:prstGeom prst="roundRect">
            <a:avLst>
              <a:gd name="adj" fmla="val 4431"/>
            </a:avLst>
          </a:prstGeom>
          <a:solidFill>
            <a:srgbClr val="1D3A63"/>
          </a:solidFill>
          <a:ln w="19050">
            <a:solidFill>
              <a:srgbClr val="85B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85650" y="4116705"/>
            <a:ext cx="4634738" cy="204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54"/>
              </a:lnSpc>
              <a:buNone/>
            </a:pPr>
            <a:r>
              <a:rPr lang="en-US" sz="1950" b="1" dirty="0">
                <a:solidFill>
                  <a:srgbClr val="85B8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classes de service </a:t>
            </a:r>
            <a:pPr algn="l" indent="0" marL="0">
              <a:lnSpc>
                <a:spcPct val="131154"/>
              </a:lnSpc>
              <a:buNone/>
            </a:pPr>
            <a:r>
              <a:rPr lang="en-US" sz="1650" dirty="0">
                <a:solidFill>
                  <a:srgbClr val="FFFFFF"/>
                </a:solidFill>
                <a:highlight>
                  <a:srgbClr val="1D3A63"/>
                </a:highlight>
                <a:latin typeface="Helvetica" pitchFamily="34" charset="0"/>
                <a:ea typeface="Helvetica" pitchFamily="34" charset="-122"/>
                <a:cs typeface="Helvetica" pitchFamily="34" charset="-120"/>
              </a:rPr>
              <a:t>PLATINIUM / GOLD / SILVER — Class-of-Service Lanes de l'ingestion au serving, monitoring par jalon et error budget par classe.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33500" y="6829425"/>
            <a:ext cx="16089630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14"/>
              </a:lnSpc>
              <a:buNone/>
            </a:pPr>
            <a:r>
              <a:rPr lang="en-US" sz="1800" b="1" dirty="0">
                <a:solidFill>
                  <a:srgbClr val="B3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Prochaines étapes </a:t>
            </a:r>
            <a:pPr algn="l" indent="0" marL="0">
              <a:lnSpc>
                <a:spcPct val="132414"/>
              </a:lnSpc>
              <a:buNone/>
            </a:pPr>
            <a:r>
              <a:rPr lang="en-US" sz="1800" dirty="0">
                <a:solidFill>
                  <a:srgbClr val="B3D4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valider les transcriptions des inventaires EDD/RB · trancher les points ouverts (fréquences, doublons, P1/P2) · figer le mapping session → rapports et le référentiel SLA C3.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2026-07-14T16:33:21Z</dcterms:created>
  <dcterms:modified xsi:type="dcterms:W3CDTF">2026-07-14T16:33:21Z</dcterms:modified>
</cp:coreProperties>
</file>